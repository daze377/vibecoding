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0" y="548640"/>
            <a:ext cx="3200400" cy="58521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0" b="0">
                <a:solidFill>
                  <a:srgbClr val="DCE6F0"/>
                </a:solidFill>
                <a:latin typeface="Arial Black"/>
              </a:rPr>
              <a:t>&lt;/&gt;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627632"/>
            <a:ext cx="457200" cy="64008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284C7"/>
                </a:solidFill>
                <a:latin typeface="Arial"/>
              </a:rPr>
              <a:t>STEM INSTITUTE  ·  MODULE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94560"/>
            <a:ext cx="96012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0">
                <a:solidFill>
                  <a:srgbClr val="0F2740"/>
                </a:solidFill>
                <a:latin typeface="Arial Black"/>
              </a:rPr>
              <a:t>Build Windows Software:</a:t>
            </a:r>
          </a:p>
          <a:p>
            <a:pPr algn="l">
              <a:lnSpc>
                <a:spcPct val="100000"/>
              </a:lnSpc>
            </a:pPr>
            <a:r>
              <a:rPr sz="4000" b="0">
                <a:solidFill>
                  <a:srgbClr val="0F2740"/>
                </a:solidFill>
                <a:latin typeface="Arial Black"/>
              </a:rPr>
              <a:t>A Real PDF Editor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06908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47566B"/>
                </a:solidFill>
                <a:latin typeface="Calibri"/>
              </a:rPr>
              <a:t>Design it like an engineer — then let the AI build </a:t>
            </a:r>
            <a:r>
              <a:rPr sz="1700" b="1">
                <a:solidFill>
                  <a:srgbClr val="F97316"/>
                </a:solidFill>
                <a:latin typeface="Calibri"/>
              </a:rPr>
              <a:t>PageMark</a:t>
            </a:r>
            <a:r>
              <a:rPr sz="1700" b="0">
                <a:solidFill>
                  <a:srgbClr val="47566B"/>
                </a:solidFill>
                <a:latin typeface="Calibri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800600"/>
            <a:ext cx="301752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47566B"/>
                </a:solidFill>
                <a:latin typeface="Calibri"/>
              </a:rPr>
              <a:t>Day 7  —  June 22,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8FA3BC"/>
                </a:solidFill>
                <a:latin typeface="Calibri"/>
              </a:rPr>
              <a:t>Vibe Coding  ·  June 22,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75720" y="384048"/>
            <a:ext cx="118872" cy="118872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649456" y="384048"/>
            <a:ext cx="118872" cy="11887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284C7"/>
                </a:solidFill>
                <a:latin typeface="Arial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0F2740"/>
                </a:solidFill>
                <a:latin typeface="Arial Black"/>
              </a:rPr>
              <a:t>Today's 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5349240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" y="1965960"/>
            <a:ext cx="3108960" cy="50292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Part 1 · Think like a product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743200"/>
            <a:ext cx="46634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>
                <a:solidFill>
                  <a:srgbClr val="47566B"/>
                </a:solidFill>
                <a:latin typeface="Calibri"/>
              </a:rPr>
              <a:t>•  Study the giant (Adobe)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47566B"/>
                </a:solidFill>
                <a:latin typeface="Calibri"/>
              </a:rPr>
              <a:t>•  Choose an honest MVP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47566B"/>
                </a:solidFill>
                <a:latin typeface="Calibri"/>
              </a:rPr>
              <a:t>•  Pick the stack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47566B"/>
                </a:solidFill>
                <a:latin typeface="Calibri"/>
              </a:rPr>
              <a:t>•  Write task-22.md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91640"/>
            <a:ext cx="5349240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629400" y="1965960"/>
            <a:ext cx="3108960" cy="50292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Part 2 · Build PageMark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2743200"/>
            <a:ext cx="46634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>
                <a:solidFill>
                  <a:srgbClr val="47566B"/>
                </a:solidFill>
                <a:latin typeface="Calibri"/>
              </a:rPr>
              <a:t>•  Core engine first, tests first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47566B"/>
                </a:solidFill>
                <a:latin typeface="Calibri"/>
              </a:rPr>
              <a:t>•  Wire the window (Qt)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47566B"/>
                </a:solidFill>
                <a:latin typeface="Calibri"/>
              </a:rPr>
              <a:t>•  Edge cases that bite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47566B"/>
                </a:solidFill>
                <a:latin typeface="Calibri"/>
              </a:rPr>
              <a:t>•  Ship a Windows .exe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8FA3BC"/>
                </a:solidFill>
                <a:latin typeface="Calibri"/>
              </a:rPr>
              <a:t>Vibe Coding  ·  June 22,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75720" y="384048"/>
            <a:ext cx="118872" cy="118872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649456" y="384048"/>
            <a:ext cx="118872" cy="11887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284C7"/>
                </a:solidFill>
                <a:latin typeface="Arial"/>
              </a:rPr>
              <a:t>THE 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0F2740"/>
                </a:solidFill>
                <a:latin typeface="Arial Black"/>
              </a:rPr>
              <a:t>One App, Two Jobs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00200"/>
            <a:ext cx="2670048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4480" y="1984248"/>
            <a:ext cx="566928" cy="56692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>
                <a:solidFill>
                  <a:srgbClr val="FFFFFF"/>
                </a:solidFill>
              </a:rPr>
              <a:t>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07208"/>
            <a:ext cx="23957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F2740"/>
                </a:solidFill>
                <a:latin typeface="Calibri"/>
              </a:rPr>
              <a:t>Read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264408"/>
            <a:ext cx="230428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47566B"/>
                </a:solidFill>
                <a:latin typeface="Calibri"/>
              </a:rPr>
              <a:t>Open any PDF, scroll,</a:t>
            </a:r>
          </a:p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47566B"/>
                </a:solidFill>
                <a:latin typeface="Calibri"/>
              </a:rPr>
              <a:t>zoom, thumbnails, search.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600200"/>
            <a:ext cx="2670048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389120" y="1984248"/>
            <a:ext cx="566928" cy="566928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>
                <a:solidFill>
                  <a:srgbClr val="FFFFFF"/>
                </a:solidFill>
              </a:rPr>
              <a:t>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807208"/>
            <a:ext cx="23957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F2740"/>
                </a:solidFill>
                <a:latin typeface="Calibri"/>
              </a:rPr>
              <a:t>Annotate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3264408"/>
            <a:ext cx="230428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47566B"/>
                </a:solidFill>
                <a:latin typeface="Calibri"/>
              </a:rPr>
              <a:t>Highlight passages and</a:t>
            </a:r>
          </a:p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47566B"/>
                </a:solidFill>
                <a:latin typeface="Calibri"/>
              </a:rPr>
              <a:t>stick notes on the page.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600200"/>
            <a:ext cx="2670048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223760" y="1984248"/>
            <a:ext cx="566928" cy="56692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>
                <a:solidFill>
                  <a:srgbClr val="FFFFFF"/>
                </a:solidFill>
              </a:rPr>
              <a:t>✏️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807208"/>
            <a:ext cx="23957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F2740"/>
                </a:solidFill>
                <a:latin typeface="Calibri"/>
              </a:rPr>
              <a:t>Edit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264408"/>
            <a:ext cx="230428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47566B"/>
                </a:solidFill>
                <a:latin typeface="Calibri"/>
              </a:rPr>
              <a:t>Double-click a word —</a:t>
            </a:r>
          </a:p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47566B"/>
                </a:solidFill>
                <a:latin typeface="Calibri"/>
              </a:rPr>
              <a:t>change the text itself.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6840" y="1600200"/>
            <a:ext cx="2670048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58400" y="1984248"/>
            <a:ext cx="566928" cy="566928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>
                <a:solidFill>
                  <a:srgbClr val="FFFFFF"/>
                </a:solidFill>
              </a:rPr>
              <a:t>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807208"/>
            <a:ext cx="23957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F2740"/>
                </a:solidFill>
                <a:latin typeface="Calibri"/>
              </a:rPr>
              <a:t>Save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3264408"/>
            <a:ext cx="230428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47566B"/>
                </a:solidFill>
                <a:latin typeface="Calibri"/>
              </a:rPr>
              <a:t>A real PDF other apps</a:t>
            </a:r>
          </a:p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47566B"/>
                </a:solidFill>
                <a:latin typeface="Calibri"/>
              </a:rPr>
              <a:t>open — not a copy format.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12064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47566B"/>
                </a:solidFill>
                <a:latin typeface="Calibri"/>
              </a:rPr>
              <a:t>Reading is a weekend project. Editing is the boss fight — </a:t>
            </a:r>
            <a:r>
              <a:rPr sz="1250" b="1">
                <a:solidFill>
                  <a:srgbClr val="F97316"/>
                </a:solidFill>
                <a:latin typeface="Calibri"/>
              </a:rPr>
              <a:t>that's why we design first.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8FA3BC"/>
                </a:solidFill>
                <a:latin typeface="Calibri"/>
              </a:rPr>
              <a:t>Vibe Coding  ·  June 22, 2026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75720" y="384048"/>
            <a:ext cx="118872" cy="118872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649456" y="384048"/>
            <a:ext cx="118872" cy="11887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284C7"/>
                </a:solidFill>
                <a:latin typeface="Arial"/>
              </a:rPr>
              <a:t>STEP 0 · STUDY THE GIANT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0F2740"/>
                </a:solidFill>
                <a:latin typeface="Arial Black"/>
              </a:rPr>
              <a:t>Map Adobe's Features — Then Choose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27632"/>
            <a:ext cx="4920569" cy="475488"/>
          </a:xfrm>
          <a:prstGeom prst="roundRect">
            <a:avLst>
              <a:gd name="adj" fmla="val 0"/>
            </a:avLst>
          </a:prstGeom>
          <a:solidFill>
            <a:srgbClr val="0F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/>
            <a:r>
              <a:rPr sz="1250" b="1">
                <a:solidFill>
                  <a:srgbClr val="FFFFFF"/>
                </a:solidFill>
                <a:latin typeface="Calibri"/>
              </a:rPr>
              <a:t>Adobe Acrobat feature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23489" y="1627632"/>
            <a:ext cx="3131271" cy="475488"/>
          </a:xfrm>
          <a:prstGeom prst="roundRect">
            <a:avLst>
              <a:gd name="adj" fmla="val 0"/>
            </a:avLst>
          </a:prstGeom>
          <a:solidFill>
            <a:srgbClr val="0F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/>
            <a:r>
              <a:rPr sz="1250" b="1">
                <a:solidFill>
                  <a:srgbClr val="FFFFFF"/>
                </a:solidFill>
                <a:latin typeface="Calibri"/>
              </a:rPr>
              <a:t>Our MVP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54760" y="1627632"/>
            <a:ext cx="3131271" cy="475488"/>
          </a:xfrm>
          <a:prstGeom prst="roundRect">
            <a:avLst>
              <a:gd name="adj" fmla="val 0"/>
            </a:avLst>
          </a:prstGeom>
          <a:solidFill>
            <a:srgbClr val="0F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/>
            <a:r>
              <a:rPr sz="1250" b="1">
                <a:solidFill>
                  <a:srgbClr val="FFFFFF"/>
                </a:solidFill>
                <a:latin typeface="Calibri"/>
              </a:rPr>
              <a:t>Later / roadmap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03120"/>
            <a:ext cx="4920569" cy="47548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/>
            <a:r>
              <a:rPr sz="1150">
                <a:solidFill>
                  <a:srgbClr val="47566B"/>
                </a:solidFill>
                <a:latin typeface="Calibri"/>
              </a:rPr>
              <a:t>Open · render · zoom · thumbnails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23489" y="2103120"/>
            <a:ext cx="3131271" cy="47548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/>
            <a:r>
              <a:rPr sz="1150">
                <a:solidFill>
                  <a:srgbClr val="15803D"/>
                </a:solidFill>
                <a:latin typeface="Calibri"/>
              </a:rPr>
              <a:t>✅ build 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54760" y="2103120"/>
            <a:ext cx="3131271" cy="47548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/>
            <a:r>
              <a:rPr sz="1150">
                <a:solidFill>
                  <a:srgbClr val="47566B"/>
                </a:solidFill>
                <a:latin typeface="Calibri"/>
              </a:rPr>
              <a:t>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578608"/>
            <a:ext cx="4920569" cy="47548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/>
            <a:r>
              <a:rPr sz="1150">
                <a:solidFill>
                  <a:srgbClr val="47566B"/>
                </a:solidFill>
                <a:latin typeface="Calibri"/>
              </a:rPr>
              <a:t>Search with hit highlights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23489" y="2578608"/>
            <a:ext cx="3131271" cy="47548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/>
            <a:r>
              <a:rPr sz="1150">
                <a:solidFill>
                  <a:srgbClr val="15803D"/>
                </a:solidFill>
                <a:latin typeface="Calibri"/>
              </a:rPr>
              <a:t>✅ build 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54760" y="2578608"/>
            <a:ext cx="3131271" cy="47548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/>
            <a:r>
              <a:rPr sz="1150">
                <a:solidFill>
                  <a:srgbClr val="47566B"/>
                </a:solidFill>
                <a:latin typeface="Calibri"/>
              </a:rPr>
              <a:t>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054096"/>
            <a:ext cx="4920569" cy="47548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/>
            <a:r>
              <a:rPr sz="1150">
                <a:solidFill>
                  <a:srgbClr val="47566B"/>
                </a:solidFill>
                <a:latin typeface="Calibri"/>
              </a:rPr>
              <a:t>Highlight / underline / strikeout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23489" y="3054096"/>
            <a:ext cx="3131271" cy="47548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/>
            <a:r>
              <a:rPr sz="1150">
                <a:solidFill>
                  <a:srgbClr val="15803D"/>
                </a:solidFill>
                <a:latin typeface="Calibri"/>
              </a:rPr>
              <a:t>✅ highlight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54760" y="3054096"/>
            <a:ext cx="3131271" cy="47548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/>
            <a:r>
              <a:rPr sz="1150">
                <a:solidFill>
                  <a:srgbClr val="47566B"/>
                </a:solidFill>
                <a:latin typeface="Calibri"/>
              </a:rPr>
              <a:t>underline, strikeout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529584"/>
            <a:ext cx="4920569" cy="47548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/>
            <a:r>
              <a:rPr sz="1150">
                <a:solidFill>
                  <a:srgbClr val="47566B"/>
                </a:solidFill>
                <a:latin typeface="Calibri"/>
              </a:rPr>
              <a:t>Sticky notes / free text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23489" y="3529584"/>
            <a:ext cx="3131271" cy="47548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/>
            <a:r>
              <a:rPr sz="1150">
                <a:solidFill>
                  <a:srgbClr val="15803D"/>
                </a:solidFill>
                <a:latin typeface="Calibri"/>
              </a:rPr>
              <a:t>✅ free-text note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54760" y="3529584"/>
            <a:ext cx="3131271" cy="47548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/>
            <a:r>
              <a:rPr sz="1150">
                <a:solidFill>
                  <a:srgbClr val="47566B"/>
                </a:solidFill>
                <a:latin typeface="Calibri"/>
              </a:rPr>
              <a:t>popup threads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005072"/>
            <a:ext cx="4920569" cy="47548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/>
            <a:r>
              <a:rPr sz="1150">
                <a:solidFill>
                  <a:srgbClr val="47566B"/>
                </a:solidFill>
                <a:latin typeface="Calibri"/>
              </a:rPr>
              <a:t>Edit page text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23489" y="4005072"/>
            <a:ext cx="3131271" cy="47548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/>
            <a:r>
              <a:rPr sz="1150">
                <a:solidFill>
                  <a:srgbClr val="15803D"/>
                </a:solidFill>
                <a:latin typeface="Calibri"/>
              </a:rPr>
              <a:t>✅ replace in place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54760" y="4005072"/>
            <a:ext cx="3131271" cy="47548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/>
            <a:r>
              <a:rPr sz="1150">
                <a:solidFill>
                  <a:srgbClr val="47566B"/>
                </a:solidFill>
                <a:latin typeface="Calibri"/>
              </a:rPr>
              <a:t>font matching, reflow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480560"/>
            <a:ext cx="4920569" cy="47548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/>
            <a:r>
              <a:rPr sz="1150">
                <a:solidFill>
                  <a:srgbClr val="47566B"/>
                </a:solidFill>
                <a:latin typeface="Calibri"/>
              </a:rPr>
              <a:t>Pages: rotate / reorder / delete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23489" y="4480560"/>
            <a:ext cx="3131271" cy="47548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/>
            <a:r>
              <a:rPr sz="1150">
                <a:solidFill>
                  <a:srgbClr val="47566B"/>
                </a:solidFill>
                <a:latin typeface="Calibri"/>
              </a:rPr>
              <a:t>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54760" y="4480560"/>
            <a:ext cx="3131271" cy="47548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/>
            <a:r>
              <a:rPr sz="1150">
                <a:solidFill>
                  <a:srgbClr val="15803D"/>
                </a:solidFill>
                <a:latin typeface="Calibri"/>
              </a:rPr>
              <a:t>✅ same pattern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956048"/>
            <a:ext cx="4920569" cy="47548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/>
            <a:r>
              <a:rPr sz="1150">
                <a:solidFill>
                  <a:srgbClr val="47566B"/>
                </a:solidFill>
                <a:latin typeface="Calibri"/>
              </a:rPr>
              <a:t>Forms · signatures · OCR · export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23489" y="4956048"/>
            <a:ext cx="3131271" cy="47548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/>
            <a:r>
              <a:rPr sz="1150">
                <a:solidFill>
                  <a:srgbClr val="47566B"/>
                </a:solidFill>
                <a:latin typeface="Calibri"/>
              </a:rPr>
              <a:t>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54760" y="4956048"/>
            <a:ext cx="3131271" cy="47548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/>
            <a:r>
              <a:rPr sz="1150">
                <a:solidFill>
                  <a:srgbClr val="15803D"/>
                </a:solidFill>
                <a:latin typeface="Calibri"/>
              </a:rPr>
              <a:t>✅ each its own project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660136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97316"/>
                </a:solidFill>
                <a:latin typeface="Calibri"/>
              </a:rPr>
              <a:t>Engineering is choosing. </a:t>
            </a:r>
            <a:r>
              <a:rPr sz="1250" b="0">
                <a:solidFill>
                  <a:srgbClr val="47566B"/>
                </a:solidFill>
                <a:latin typeface="Calibri"/>
              </a:rPr>
              <a:t>List the whole feature space first — then scope an MVP you can finish.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8FA3BC"/>
                </a:solidFill>
                <a:latin typeface="Calibri"/>
              </a:rPr>
              <a:t>Vibe Coding  ·  June 22, 2026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75720" y="384048"/>
            <a:ext cx="118872" cy="118872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649456" y="384048"/>
            <a:ext cx="118872" cy="11887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284C7"/>
                </a:solidFill>
                <a:latin typeface="Arial"/>
              </a:rPr>
              <a:t>THE HARD TRUTH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0F2740"/>
                </a:solidFill>
                <a:latin typeface="Arial Black"/>
              </a:rPr>
              <a:t>Why “Edit a PDF” Is Hard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00200"/>
            <a:ext cx="5120640" cy="2926080"/>
          </a:xfrm>
          <a:prstGeom prst="roundRect">
            <a:avLst>
              <a:gd name="adj" fmla="val 5000"/>
            </a:avLst>
          </a:prstGeom>
          <a:solidFill>
            <a:srgbClr val="0F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74320" tIns="228600" rIns="182880" bIns="182880"/>
          <a:lstStyle/>
          <a:p>
            <a:pPr algn="l"/>
            <a:r>
              <a:rPr sz="1100">
                <a:solidFill>
                  <a:srgbClr val="8FA3BC"/>
                </a:solidFill>
                <a:latin typeface="Consolas"/>
              </a:rPr>
              <a:t>% inside a real PDF page</a:t>
            </a:r>
          </a:p>
          <a:p>
            <a:pPr algn="l"/>
            <a:r>
              <a:rPr sz="1100">
                <a:solidFill>
                  <a:srgbClr val="E8F0F8"/>
                </a:solidFill>
                <a:latin typeface="Consolas"/>
              </a:rPr>
              <a:t>BT</a:t>
            </a:r>
          </a:p>
          <a:p>
            <a:pPr algn="l"/>
            <a:r>
              <a:rPr sz="1100">
                <a:solidFill>
                  <a:srgbClr val="E8F0F8"/>
                </a:solidFill>
                <a:latin typeface="Consolas"/>
              </a:rPr>
              <a:t>  /F1 12 Tf</a:t>
            </a:r>
          </a:p>
          <a:p>
            <a:pPr algn="l"/>
            <a:r>
              <a:rPr sz="1100">
                <a:solidFill>
                  <a:srgbClr val="E8F0F8"/>
                </a:solidFill>
                <a:latin typeface="Consolas"/>
              </a:rPr>
              <a:t>  72 706 Td</a:t>
            </a:r>
          </a:p>
          <a:p>
            <a:pPr algn="l"/>
            <a:r>
              <a:rPr sz="1100">
                <a:solidFill>
                  <a:srgbClr val="FDBA74"/>
                </a:solidFill>
                <a:latin typeface="Consolas"/>
              </a:rPr>
              <a:t>  (The quick brown fox) Tj</a:t>
            </a:r>
          </a:p>
          <a:p>
            <a:pPr algn="l"/>
            <a:r>
              <a:rPr sz="1100">
                <a:solidFill>
                  <a:srgbClr val="E8F0F8"/>
                </a:solidFill>
                <a:latin typeface="Consolas"/>
              </a:rPr>
              <a:t>ET</a:t>
            </a:r>
          </a:p>
          <a:p>
            <a:pPr algn="l"/>
            <a:r>
              <a:rPr sz="1100">
                <a:solidFill>
                  <a:srgbClr val="E8F0F8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8FA3BC"/>
                </a:solidFill>
                <a:latin typeface="Consolas"/>
              </a:rPr>
              <a:t>% no paragraphs. no words.</a:t>
            </a:r>
          </a:p>
          <a:p>
            <a:pPr algn="l"/>
            <a:r>
              <a:rPr sz="1100">
                <a:solidFill>
                  <a:srgbClr val="8FA3BC"/>
                </a:solidFill>
                <a:latin typeface="Consolas"/>
              </a:rPr>
              <a:t>% just glyphs at coordinates.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691640"/>
            <a:ext cx="5577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F2740"/>
                </a:solidFill>
                <a:latin typeface="Calibri"/>
              </a:rPr>
              <a:t>A PDF is a printout, not a document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2194560"/>
            <a:ext cx="55778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47566B"/>
                </a:solidFill>
                <a:latin typeface="Calibri"/>
              </a:rPr>
              <a:t>•  Text = positioned glyphs — there is no “paragraph” to edit</a:t>
            </a:r>
          </a:p>
          <a:p>
            <a:pPr algn="l">
              <a:lnSpc>
                <a:spcPct val="130000"/>
              </a:lnSpc>
            </a:pPr>
            <a:r>
              <a:rPr sz="1350" b="0">
                <a:solidFill>
                  <a:srgbClr val="47566B"/>
                </a:solidFill>
                <a:latin typeface="Calibri"/>
              </a:rPr>
              <a:t>•  So we do what Acrobat does for small edits:</a:t>
            </a:r>
          </a:p>
          <a:p>
            <a:pPr algn="l">
              <a:lnSpc>
                <a:spcPct val="130000"/>
              </a:lnSpc>
            </a:pPr>
            <a:r>
              <a:rPr sz="1350" b="0">
                <a:solidFill>
                  <a:srgbClr val="0284C7"/>
                </a:solidFill>
                <a:latin typeface="Calibri"/>
              </a:rPr>
              <a:t>   1. redact the old glyphs (cover + remove)</a:t>
            </a:r>
          </a:p>
          <a:p>
            <a:pPr algn="l">
              <a:lnSpc>
                <a:spcPct val="130000"/>
              </a:lnSpc>
            </a:pPr>
            <a:r>
              <a:rPr sz="1350" b="0">
                <a:solidFill>
                  <a:srgbClr val="0284C7"/>
                </a:solidFill>
                <a:latin typeface="Calibri"/>
              </a:rPr>
              <a:t>   2. insert new text at the same baseline &amp; size</a:t>
            </a:r>
          </a:p>
          <a:p>
            <a:pPr algn="l">
              <a:lnSpc>
                <a:spcPct val="130000"/>
              </a:lnSpc>
            </a:pPr>
            <a:r>
              <a:rPr sz="1350" b="0">
                <a:solidFill>
                  <a:srgbClr val="47566B"/>
                </a:solidFill>
                <a:latin typeface="Calibri"/>
              </a:rPr>
              <a:t>•  Reflowing a whole paragraph? Even Adobe struggles.</a:t>
            </a:r>
          </a:p>
          <a:p>
            <a:pPr algn="l">
              <a:lnSpc>
                <a:spcPct val="130000"/>
              </a:lnSpc>
            </a:pPr>
            <a:r>
              <a:rPr sz="1350" b="0">
                <a:solidFill>
                  <a:srgbClr val="47566B"/>
                </a:solidFill>
                <a:latin typeface="Calibri"/>
              </a:rPr>
              <a:t>   We scope it out — and say so in the design doc.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66928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97316"/>
                </a:solidFill>
                <a:latin typeface="Calibri"/>
              </a:rPr>
              <a:t>Knowing what's hard </a:t>
            </a:r>
            <a:r>
              <a:rPr sz="1250" b="0">
                <a:solidFill>
                  <a:srgbClr val="47566B"/>
                </a:solidFill>
                <a:latin typeface="Calibri"/>
              </a:rPr>
              <a:t>before coding is the difference between a plan and a wish.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8FA3BC"/>
                </a:solidFill>
                <a:latin typeface="Calibri"/>
              </a:rPr>
              <a:t>Vibe Coding  ·  June 22,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75720" y="384048"/>
            <a:ext cx="118872" cy="118872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649456" y="384048"/>
            <a:ext cx="118872" cy="11887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284C7"/>
                </a:solidFill>
                <a:latin typeface="Arial"/>
              </a:rPr>
              <a:t>STEP 1 · PICK THE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0F2740"/>
                </a:solidFill>
                <a:latin typeface="Arial Black"/>
              </a:rPr>
              <a:t>Four Tools, One Language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00200"/>
            <a:ext cx="2670048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4480" y="1984248"/>
            <a:ext cx="566928" cy="56692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>
                <a:solidFill>
                  <a:srgbClr val="FFFFFF"/>
                </a:solidFill>
              </a:rPr>
              <a:t>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07208"/>
            <a:ext cx="23957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F2740"/>
                </a:solidFill>
                <a:latin typeface="Calibri"/>
              </a:rPr>
              <a:t>PySide6 (Qt 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264408"/>
            <a:ext cx="230428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47566B"/>
                </a:solidFill>
                <a:latin typeface="Calibri"/>
              </a:rPr>
              <a:t>Real native windows —</a:t>
            </a:r>
          </a:p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47566B"/>
                </a:solidFill>
                <a:latin typeface="Calibri"/>
              </a:rPr>
              <a:t>Windows, macOS, Linux</a:t>
            </a:r>
          </a:p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47566B"/>
                </a:solidFill>
                <a:latin typeface="Calibri"/>
              </a:rPr>
              <a:t>from the same code.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600200"/>
            <a:ext cx="2670048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389120" y="1984248"/>
            <a:ext cx="566928" cy="566928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>
                <a:solidFill>
                  <a:srgbClr val="FFFFFF"/>
                </a:solidFill>
              </a:rPr>
              <a:t>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807208"/>
            <a:ext cx="23957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F2740"/>
                </a:solidFill>
                <a:latin typeface="Calibri"/>
              </a:rPr>
              <a:t>PyMuPDF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3264408"/>
            <a:ext cx="230428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47566B"/>
                </a:solidFill>
                <a:latin typeface="Calibri"/>
              </a:rPr>
              <a:t>Renders pages AND</a:t>
            </a:r>
          </a:p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47566B"/>
                </a:solidFill>
                <a:latin typeface="Calibri"/>
              </a:rPr>
              <a:t>rewrites content.</a:t>
            </a:r>
          </a:p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47566B"/>
                </a:solidFill>
                <a:latin typeface="Calibri"/>
              </a:rPr>
              <a:t>One library, both jobs.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600200"/>
            <a:ext cx="2670048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223760" y="1984248"/>
            <a:ext cx="566928" cy="56692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>
                <a:solidFill>
                  <a:srgbClr val="FFFFFF"/>
                </a:solidFill>
              </a:rPr>
              <a:t>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807208"/>
            <a:ext cx="23957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F2740"/>
                </a:solidFill>
                <a:latin typeface="Calibri"/>
              </a:rPr>
              <a:t>pytest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264408"/>
            <a:ext cx="230428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47566B"/>
                </a:solidFill>
                <a:latin typeface="Calibri"/>
              </a:rPr>
              <a:t>The whole engine tests</a:t>
            </a:r>
          </a:p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47566B"/>
                </a:solidFill>
                <a:latin typeface="Calibri"/>
              </a:rPr>
              <a:t>without opening a</a:t>
            </a:r>
          </a:p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47566B"/>
                </a:solidFill>
                <a:latin typeface="Calibri"/>
              </a:rPr>
              <a:t>single window.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6840" y="1600200"/>
            <a:ext cx="2670048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58400" y="1984248"/>
            <a:ext cx="566928" cy="566928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>
                <a:solidFill>
                  <a:srgbClr val="FFFFFF"/>
                </a:solidFill>
              </a:rPr>
              <a:t>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807208"/>
            <a:ext cx="23957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F2740"/>
                </a:solidFill>
                <a:latin typeface="Calibri"/>
              </a:rPr>
              <a:t>PyInstaller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3264408"/>
            <a:ext cx="230428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47566B"/>
                </a:solidFill>
                <a:latin typeface="Calibri"/>
              </a:rPr>
              <a:t>One command turns</a:t>
            </a:r>
          </a:p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47566B"/>
                </a:solidFill>
                <a:latin typeface="Calibri"/>
              </a:rPr>
              <a:t>main.py into</a:t>
            </a:r>
          </a:p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47566B"/>
                </a:solidFill>
                <a:latin typeface="Calibri"/>
              </a:rPr>
              <a:t>PageMark.exe.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12064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47566B"/>
                </a:solidFill>
                <a:latin typeface="Calibri"/>
              </a:rPr>
              <a:t>Python everywhere — UI, engine, and tests in </a:t>
            </a:r>
            <a:r>
              <a:rPr sz="1250" b="1">
                <a:solidFill>
                  <a:srgbClr val="F97316"/>
                </a:solidFill>
                <a:latin typeface="Calibri"/>
              </a:rPr>
              <a:t>one language a beginner can read.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8FA3BC"/>
                </a:solidFill>
                <a:latin typeface="Calibri"/>
              </a:rPr>
              <a:t>Vibe Coding  ·  June 22, 2026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75720" y="384048"/>
            <a:ext cx="118872" cy="118872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649456" y="384048"/>
            <a:ext cx="118872" cy="11887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284C7"/>
                </a:solidFill>
                <a:latin typeface="Arial"/>
              </a:rPr>
              <a:t>STEP 2 · THE DESIGN 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0F2740"/>
                </a:solidFill>
                <a:latin typeface="Arial Black"/>
              </a:rPr>
              <a:t>Inside task-22.md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6035040" cy="3566160"/>
          </a:xfrm>
          <a:prstGeom prst="roundRect">
            <a:avLst>
              <a:gd name="adj" fmla="val 5000"/>
            </a:avLst>
          </a:prstGeom>
          <a:solidFill>
            <a:srgbClr val="0F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74320" tIns="228600" rIns="182880" bIns="182880"/>
          <a:lstStyle/>
          <a:p>
            <a:pPr algn="l"/>
            <a:r>
              <a:rPr sz="1100">
                <a:solidFill>
                  <a:srgbClr val="7DD3FC"/>
                </a:solidFill>
                <a:latin typeface="Consolas"/>
              </a:rPr>
              <a:t># task-22.md</a:t>
            </a:r>
          </a:p>
          <a:p>
            <a:pPr algn="l"/>
            <a:r>
              <a:rPr sz="1100">
                <a:solidFill>
                  <a:srgbClr val="E8F0F8"/>
                </a:solidFill>
                <a:latin typeface="Consolas"/>
              </a:rPr>
              <a:t>## Feature map (Adobe vs MVP)</a:t>
            </a:r>
          </a:p>
          <a:p>
            <a:pPr algn="l"/>
            <a:r>
              <a:rPr sz="1100">
                <a:solidFill>
                  <a:srgbClr val="E8F0F8"/>
                </a:solidFill>
                <a:latin typeface="Consolas"/>
              </a:rPr>
              <a:t>## Tech stack — why each piece</a:t>
            </a:r>
          </a:p>
          <a:p>
            <a:pPr algn="l"/>
            <a:r>
              <a:rPr sz="1100">
                <a:solidFill>
                  <a:srgbClr val="E8F0F8"/>
                </a:solidFill>
                <a:latin typeface="Consolas"/>
              </a:rPr>
              <a:t>## Architecture</a:t>
            </a:r>
          </a:p>
          <a:p>
            <a:pPr algn="l"/>
            <a:r>
              <a:rPr sz="1100">
                <a:solidFill>
                  <a:srgbClr val="FDBA74"/>
                </a:solidFill>
                <a:latin typeface="Consolas"/>
              </a:rPr>
              <a:t>   pdf_document.py   # the core</a:t>
            </a:r>
          </a:p>
          <a:p>
            <a:pPr algn="l"/>
            <a:r>
              <a:rPr sz="1100">
                <a:solidFill>
                  <a:srgbClr val="E8F0F8"/>
                </a:solidFill>
                <a:latin typeface="Consolas"/>
              </a:rPr>
              <a:t>   app_window.py     # Qt shell</a:t>
            </a:r>
          </a:p>
          <a:p>
            <a:pPr algn="l"/>
            <a:r>
              <a:rPr sz="1100">
                <a:solidFill>
                  <a:srgbClr val="E8F0F8"/>
                </a:solidFill>
                <a:latin typeface="Consolas"/>
              </a:rPr>
              <a:t>## Core API (the contract)</a:t>
            </a:r>
          </a:p>
          <a:p>
            <a:pPr algn="l"/>
            <a:r>
              <a:rPr sz="1100">
                <a:solidFill>
                  <a:srgbClr val="FDBA74"/>
                </a:solidFill>
                <a:latin typeface="Consolas"/>
              </a:rPr>
              <a:t>   doc.search(text) -&gt; rects</a:t>
            </a:r>
          </a:p>
          <a:p>
            <a:pPr algn="l"/>
            <a:r>
              <a:rPr sz="1100">
                <a:solidFill>
                  <a:srgbClr val="FDBA74"/>
                </a:solidFill>
                <a:latin typeface="Consolas"/>
              </a:rPr>
              <a:t>   doc.replace_text(rect, new)</a:t>
            </a:r>
          </a:p>
          <a:p>
            <a:pPr algn="l"/>
            <a:r>
              <a:rPr sz="1100">
                <a:solidFill>
                  <a:srgbClr val="E8F0F8"/>
                </a:solidFill>
                <a:latin typeface="Consolas"/>
              </a:rPr>
              <a:t>## Tasks 1-10 (tests first)</a:t>
            </a:r>
          </a:p>
          <a:p>
            <a:pPr algn="l"/>
            <a:r>
              <a:rPr sz="1100">
                <a:solidFill>
                  <a:srgbClr val="E8F0F8"/>
                </a:solidFill>
                <a:latin typeface="Consolas"/>
              </a:rPr>
              <a:t>## Testing plan + edge cases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16459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2740"/>
                </a:solidFill>
                <a:latin typeface="Calibri"/>
              </a:rPr>
              <a:t>What's inside</a:t>
            </a:r>
          </a:p>
        </p:txBody>
      </p:sp>
      <p:sp>
        <p:nvSpPr>
          <p:cNvPr id="7" name="Oval 6"/>
          <p:cNvSpPr/>
          <p:nvPr/>
        </p:nvSpPr>
        <p:spPr>
          <a:xfrm>
            <a:off x="7040880" y="2148840"/>
            <a:ext cx="310896" cy="310896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0" y="2121408"/>
            <a:ext cx="3108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7566B"/>
                </a:solidFill>
                <a:latin typeface="Calibri"/>
              </a:rPr>
              <a:t>Overview &amp; honest goals</a:t>
            </a:r>
          </a:p>
        </p:txBody>
      </p:sp>
      <p:sp>
        <p:nvSpPr>
          <p:cNvPr id="9" name="Oval 8"/>
          <p:cNvSpPr/>
          <p:nvPr/>
        </p:nvSpPr>
        <p:spPr>
          <a:xfrm>
            <a:off x="7040880" y="2624328"/>
            <a:ext cx="310896" cy="310896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0" y="2596896"/>
            <a:ext cx="3108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7566B"/>
                </a:solidFill>
                <a:latin typeface="Calibri"/>
              </a:rPr>
              <a:t>Adobe feature map → MVP</a:t>
            </a:r>
          </a:p>
        </p:txBody>
      </p:sp>
      <p:sp>
        <p:nvSpPr>
          <p:cNvPr id="11" name="Oval 10"/>
          <p:cNvSpPr/>
          <p:nvPr/>
        </p:nvSpPr>
        <p:spPr>
          <a:xfrm>
            <a:off x="7040880" y="3099816"/>
            <a:ext cx="310896" cy="310896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0" y="3072384"/>
            <a:ext cx="3108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7566B"/>
                </a:solidFill>
                <a:latin typeface="Calibri"/>
              </a:rPr>
              <a:t>Module split (who imports Qt)</a:t>
            </a:r>
          </a:p>
        </p:txBody>
      </p:sp>
      <p:sp>
        <p:nvSpPr>
          <p:cNvPr id="13" name="Oval 12"/>
          <p:cNvSpPr/>
          <p:nvPr/>
        </p:nvSpPr>
        <p:spPr>
          <a:xfrm>
            <a:off x="7040880" y="3575304"/>
            <a:ext cx="310896" cy="310896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0" y="3547872"/>
            <a:ext cx="3108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7566B"/>
                </a:solidFill>
                <a:latin typeface="Calibri"/>
              </a:rPr>
              <a:t>The core API contract</a:t>
            </a:r>
          </a:p>
        </p:txBody>
      </p:sp>
      <p:sp>
        <p:nvSpPr>
          <p:cNvPr id="15" name="Oval 14"/>
          <p:cNvSpPr/>
          <p:nvPr/>
        </p:nvSpPr>
        <p:spPr>
          <a:xfrm>
            <a:off x="7040880" y="4050792"/>
            <a:ext cx="310896" cy="310896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0" y="4023360"/>
            <a:ext cx="3108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7566B"/>
                </a:solidFill>
                <a:latin typeface="Calibri"/>
              </a:rPr>
              <a:t>10 tasks, one test each</a:t>
            </a:r>
          </a:p>
        </p:txBody>
      </p:sp>
      <p:sp>
        <p:nvSpPr>
          <p:cNvPr id="17" name="Oval 16"/>
          <p:cNvSpPr/>
          <p:nvPr/>
        </p:nvSpPr>
        <p:spPr>
          <a:xfrm>
            <a:off x="7040880" y="4526280"/>
            <a:ext cx="310896" cy="310896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0" y="4498848"/>
            <a:ext cx="3108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7566B"/>
                </a:solidFill>
                <a:latin typeface="Calibri"/>
              </a:rPr>
              <a:t>Ship: PyInstaller recipe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98932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97316"/>
                </a:solidFill>
                <a:latin typeface="Calibri"/>
              </a:rPr>
              <a:t>The doc is the contract: </a:t>
            </a:r>
            <a:r>
              <a:rPr sz="1250" b="0">
                <a:solidFill>
                  <a:srgbClr val="47566B"/>
                </a:solidFill>
                <a:latin typeface="Calibri"/>
              </a:rPr>
              <a:t>every status code, limit, and trick lives here — graders and AIs read the same truth.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8FA3BC"/>
                </a:solidFill>
                <a:latin typeface="Calibri"/>
              </a:rPr>
              <a:t>Vibe Coding  ·  June 22, 2026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475720" y="384048"/>
            <a:ext cx="118872" cy="118872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649456" y="384048"/>
            <a:ext cx="118872" cy="11887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284C7"/>
                </a:solidFill>
                <a:latin typeface="Arial"/>
              </a:rPr>
              <a:t>THE KEY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0F2740"/>
                </a:solidFill>
                <a:latin typeface="Arial Black"/>
              </a:rPr>
              <a:t>Qt Only Displays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521208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74519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284C7"/>
                </a:solidFill>
                <a:latin typeface="Calibri"/>
              </a:rPr>
              <a:t>UI layer (imports Qt)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31720"/>
            <a:ext cx="47548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47566B"/>
                </a:solidFill>
                <a:latin typeface="Calibri"/>
              </a:rPr>
              <a:t>main.py — start the app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47566B"/>
                </a:solidFill>
                <a:latin typeface="Calibri"/>
              </a:rPr>
              <a:t>app_window.py — toolbar, sidebar, statusbar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47566B"/>
                </a:solidFill>
                <a:latin typeface="Calibri"/>
              </a:rPr>
              <a:t>page_view.py — zoom, selection, clicks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47566B"/>
                </a:solidFill>
                <a:latin typeface="Calibri"/>
              </a:rPr>
              <a:t>search_bar.py — the find strip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47566B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47566B"/>
                </a:solidFill>
                <a:latin typeface="Calibri"/>
              </a:rPr>
              <a:t>Displays things. Decides nothing.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91640"/>
            <a:ext cx="521208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874519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97316"/>
                </a:solidFill>
                <a:latin typeface="Calibri"/>
              </a:rPr>
              <a:t>Core layer (never imports Qt)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331720"/>
            <a:ext cx="47548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47566B"/>
                </a:solidFill>
                <a:latin typeface="Calibri"/>
              </a:rPr>
              <a:t>pdf_document.py — open, render, search,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47566B"/>
                </a:solidFill>
                <a:latin typeface="Calibri"/>
              </a:rPr>
              <a:t>highlight, note, replace_text, save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47566B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47566B"/>
                </a:solidFill>
                <a:latin typeface="Calibri"/>
              </a:rPr>
              <a:t>Every feature lives here…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0F2740"/>
                </a:solidFill>
                <a:latin typeface="Calibri"/>
              </a:rPr>
              <a:t>…so every feature is testable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0F2740"/>
                </a:solidFill>
                <a:latin typeface="Calibri"/>
              </a:rPr>
              <a:t>without opening a window.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71500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97316"/>
                </a:solidFill>
                <a:latin typeface="Calibri"/>
              </a:rPr>
              <a:t>The split is the design. </a:t>
            </a:r>
            <a:r>
              <a:rPr sz="1250" b="0">
                <a:solidFill>
                  <a:srgbClr val="47566B"/>
                </a:solidFill>
                <a:latin typeface="Calibri"/>
              </a:rPr>
              <a:t>18 tests run headless in CI — the window is just a thin skin.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8FA3BC"/>
                </a:solidFill>
                <a:latin typeface="Calibri"/>
              </a:rPr>
              <a:t>Vibe Coding  ·  June 22,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75720" y="384048"/>
            <a:ext cx="118872" cy="118872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649456" y="384048"/>
            <a:ext cx="118872" cy="11887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284C7"/>
                </a:solidFill>
                <a:latin typeface="Arial"/>
              </a:rPr>
              <a:t>STEP 3 · BREAK IT 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0F2740"/>
                </a:solidFill>
                <a:latin typeface="Arial Black"/>
              </a:rPr>
              <a:t>Ten Tasks, One Failing Test Each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45920"/>
            <a:ext cx="5486400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0936" y="1810512"/>
            <a:ext cx="457200" cy="45720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52728" y="1645920"/>
            <a:ext cx="45720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7566B"/>
                </a:solidFill>
                <a:latin typeface="Calibri"/>
              </a:rPr>
              <a:t>Core: open + render a page to pixels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542032"/>
            <a:ext cx="5486400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30936" y="2706624"/>
            <a:ext cx="457200" cy="45720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2728" y="2542032"/>
            <a:ext cx="45720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7566B"/>
                </a:solidFill>
                <a:latin typeface="Calibri"/>
              </a:rPr>
              <a:t>Core: read text + search across pages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438144"/>
            <a:ext cx="5486400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0936" y="3602736"/>
            <a:ext cx="457200" cy="45720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2728" y="3438144"/>
            <a:ext cx="45720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7566B"/>
                </a:solidFill>
                <a:latin typeface="Calibri"/>
              </a:rPr>
              <a:t>Core: highlight + sticky note (survive save!)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334256"/>
            <a:ext cx="5486400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936" y="4498848"/>
            <a:ext cx="457200" cy="45720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52728" y="4334256"/>
            <a:ext cx="45720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7566B"/>
                </a:solidFill>
                <a:latin typeface="Calibri"/>
              </a:rPr>
              <a:t>Core: replace text — redact + insert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230368"/>
            <a:ext cx="5486400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0936" y="5394960"/>
            <a:ext cx="457200" cy="45720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52728" y="5230368"/>
            <a:ext cx="45720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7566B"/>
                </a:solidFill>
                <a:latin typeface="Calibri"/>
              </a:rPr>
              <a:t>Window shell (offscreen-testable)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645920"/>
            <a:ext cx="5486400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45936" y="1810512"/>
            <a:ext cx="457200" cy="45720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67728" y="1645920"/>
            <a:ext cx="45720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7566B"/>
                </a:solidFill>
                <a:latin typeface="Calibri"/>
              </a:rPr>
              <a:t>Wire viewing: open, pages, zoom, thumbs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2542032"/>
            <a:ext cx="5486400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45936" y="2706624"/>
            <a:ext cx="457200" cy="45720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2542032"/>
            <a:ext cx="45720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7566B"/>
                </a:solidFill>
                <a:latin typeface="Calibri"/>
              </a:rPr>
              <a:t>Wire search: type → hits → Enter jumps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438144"/>
            <a:ext cx="5486400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45936" y="3602736"/>
            <a:ext cx="457200" cy="45720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728" y="3438144"/>
            <a:ext cx="45720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7566B"/>
                </a:solidFill>
                <a:latin typeface="Calibri"/>
              </a:rPr>
              <a:t>Wire editing: select, double-click, note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334256"/>
            <a:ext cx="5486400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45936" y="4498848"/>
            <a:ext cx="457200" cy="45720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67728" y="4334256"/>
            <a:ext cx="45720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7566B"/>
                </a:solidFill>
                <a:latin typeface="Calibri"/>
              </a:rPr>
              <a:t>Save / Save As + unsaved-changes guard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5230368"/>
            <a:ext cx="5486400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345936" y="5394960"/>
            <a:ext cx="457200" cy="45720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67728" y="5230368"/>
            <a:ext cx="45720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7566B"/>
                </a:solidFill>
                <a:latin typeface="Calibri"/>
              </a:rPr>
              <a:t>Package: PyInstaller → PageMark.exe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35508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97316"/>
                </a:solidFill>
                <a:latin typeface="Calibri"/>
              </a:rPr>
              <a:t>Order matters: </a:t>
            </a:r>
            <a:r>
              <a:rPr sz="1250" b="0">
                <a:solidFill>
                  <a:srgbClr val="47566B"/>
                </a:solidFill>
                <a:latin typeface="Calibri"/>
              </a:rPr>
              <a:t>the core (1–4) is done and tested before a single window exists.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8FA3BC"/>
                </a:solidFill>
                <a:latin typeface="Calibri"/>
              </a:rPr>
              <a:t>Vibe Coding  ·  June 22, 2026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475720" y="384048"/>
            <a:ext cx="118872" cy="118872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1649456" y="384048"/>
            <a:ext cx="118872" cy="11887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284C7"/>
                </a:solidFill>
                <a:latin typeface="Arial"/>
              </a:rPr>
              <a:t>STEP 4 · TDD IN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0F2740"/>
                </a:solidFill>
                <a:latin typeface="Arial Black"/>
              </a:rPr>
              <a:t>Red → Green, For Real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00200"/>
            <a:ext cx="6400800" cy="2651760"/>
          </a:xfrm>
          <a:prstGeom prst="roundRect">
            <a:avLst>
              <a:gd name="adj" fmla="val 5000"/>
            </a:avLst>
          </a:prstGeom>
          <a:solidFill>
            <a:srgbClr val="0F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74320" tIns="228600" rIns="182880" bIns="182880"/>
          <a:lstStyle/>
          <a:p>
            <a:pPr algn="l"/>
            <a:r>
              <a:rPr sz="1100">
                <a:solidFill>
                  <a:srgbClr val="7DD3FC"/>
                </a:solidFill>
                <a:latin typeface="Consolas"/>
              </a:rPr>
              <a:t>def test_replace_text_swaps_words(...):</a:t>
            </a:r>
          </a:p>
          <a:p>
            <a:pPr algn="l"/>
            <a:r>
              <a:rPr sz="1100">
                <a:solidFill>
                  <a:srgbClr val="E8F0F8"/>
                </a:solidFill>
                <a:latin typeface="Consolas"/>
              </a:rPr>
              <a:t>    doc = PdfDocument.open(sample_pdf)</a:t>
            </a:r>
          </a:p>
          <a:p>
            <a:pPr algn="l"/>
            <a:r>
              <a:rPr sz="1100">
                <a:solidFill>
                  <a:srgbClr val="E8F0F8"/>
                </a:solidFill>
                <a:latin typeface="Consolas"/>
              </a:rPr>
              <a:t>    [(page, rect)] = doc.search("lazy")</a:t>
            </a:r>
          </a:p>
          <a:p>
            <a:pPr algn="l"/>
            <a:r>
              <a:rPr sz="1100">
                <a:solidFill>
                  <a:srgbClr val="FDBA74"/>
                </a:solidFill>
                <a:latin typeface="Consolas"/>
              </a:rPr>
              <a:t>    doc.replace_text(page, rect, "sleepy")</a:t>
            </a:r>
          </a:p>
          <a:p>
            <a:pPr algn="l"/>
            <a:r>
              <a:rPr sz="1100">
                <a:solidFill>
                  <a:srgbClr val="E8F0F8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E8F0F8"/>
                </a:solidFill>
                <a:latin typeface="Consolas"/>
              </a:rPr>
              <a:t>    saved = reopen_after_save(doc)</a:t>
            </a:r>
          </a:p>
          <a:p>
            <a:pPr algn="l"/>
            <a:r>
              <a:rPr sz="1100">
                <a:solidFill>
                  <a:srgbClr val="FDBA74"/>
                </a:solidFill>
                <a:latin typeface="Consolas"/>
              </a:rPr>
              <a:t>    assert "sleepy" in saved.page_text(page)</a:t>
            </a:r>
          </a:p>
          <a:p>
            <a:pPr algn="l"/>
            <a:r>
              <a:rPr sz="1100">
                <a:solidFill>
                  <a:srgbClr val="FDBA74"/>
                </a:solidFill>
                <a:latin typeface="Consolas"/>
              </a:rPr>
              <a:t>    assert "lazy" not in saved.page_text(page)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1737360"/>
            <a:ext cx="438912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F2740"/>
                </a:solidFill>
                <a:latin typeface="Calibri"/>
              </a:rPr>
              <a:t>The honest pattern:</a:t>
            </a:r>
          </a:p>
          <a:p>
            <a:pPr algn="l">
              <a:lnSpc>
                <a:spcPct val="120000"/>
              </a:lnSpc>
            </a:pPr>
            <a:r>
              <a:rPr sz="1350" b="0">
                <a:solidFill>
                  <a:srgbClr val="47566B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350" b="1">
                <a:solidFill>
                  <a:srgbClr val="0284C7"/>
                </a:solidFill>
                <a:latin typeface="Calibri"/>
              </a:rPr>
              <a:t>do it → save → reopen → assert</a:t>
            </a:r>
          </a:p>
          <a:p>
            <a:pPr algn="l">
              <a:lnSpc>
                <a:spcPct val="120000"/>
              </a:lnSpc>
            </a:pPr>
            <a:r>
              <a:rPr sz="1350" b="0">
                <a:solidFill>
                  <a:srgbClr val="47566B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350" b="0">
                <a:solidFill>
                  <a:srgbClr val="47566B"/>
                </a:solidFill>
                <a:latin typeface="Calibri"/>
              </a:rPr>
              <a:t>If it only looks right on screen but</a:t>
            </a:r>
          </a:p>
          <a:p>
            <a:pPr algn="l">
              <a:lnSpc>
                <a:spcPct val="120000"/>
              </a:lnSpc>
            </a:pPr>
            <a:r>
              <a:rPr sz="1350" b="0">
                <a:solidFill>
                  <a:srgbClr val="47566B"/>
                </a:solidFill>
                <a:latin typeface="Calibri"/>
              </a:rPr>
              <a:t>doesn't survive the file, it's not real.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21208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47566B"/>
                </a:solidFill>
                <a:latin typeface="Calibri"/>
              </a:rPr>
              <a:t>Written before the code existed — it failed, then the engine made it pass. </a:t>
            </a:r>
            <a:r>
              <a:rPr sz="1250" b="1">
                <a:solidFill>
                  <a:srgbClr val="F97316"/>
                </a:solidFill>
                <a:latin typeface="Calibri"/>
              </a:rPr>
              <a:t>18/18 green.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8FA3BC"/>
                </a:solidFill>
                <a:latin typeface="Calibri"/>
              </a:rPr>
              <a:t>Vibe Coding  ·  June 22,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11475720" y="384048"/>
            <a:ext cx="118872" cy="118872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649456" y="384048"/>
            <a:ext cx="118872" cy="11887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284C7"/>
                </a:solidFill>
                <a:latin typeface="Arial"/>
              </a:rPr>
              <a:t>THE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0F2740"/>
                </a:solidFill>
                <a:latin typeface="Arial Black"/>
              </a:rPr>
              <a:t>PageMark, Running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7498079" cy="4434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agemark-annot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875" y="1691639"/>
            <a:ext cx="5916168" cy="416052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8229600" y="1783080"/>
            <a:ext cx="365760" cy="36576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59952" y="173736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2740"/>
                </a:solidFill>
                <a:latin typeface="Calibri"/>
              </a:rPr>
              <a:t>Highlight + note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59952" y="2039112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7566B"/>
                </a:solidFill>
                <a:latin typeface="Calibri"/>
              </a:rPr>
              <a:t>drag-select → Highlight;</a:t>
            </a:r>
          </a:p>
          <a:p>
            <a:pPr algn="l">
              <a:lnSpc>
                <a:spcPct val="100000"/>
              </a:lnSpc>
            </a:pPr>
            <a:r>
              <a:rPr sz="1100" b="0">
                <a:solidFill>
                  <a:srgbClr val="47566B"/>
                </a:solidFill>
                <a:latin typeface="Calibri"/>
              </a:rPr>
              <a:t>right-click → sticky note</a:t>
            </a:r>
          </a:p>
        </p:txBody>
      </p:sp>
      <p:sp>
        <p:nvSpPr>
          <p:cNvPr id="10" name="Oval 9"/>
          <p:cNvSpPr/>
          <p:nvPr/>
        </p:nvSpPr>
        <p:spPr>
          <a:xfrm>
            <a:off x="8229600" y="2697480"/>
            <a:ext cx="365760" cy="36576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9952" y="265176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2740"/>
                </a:solidFill>
                <a:latin typeface="Calibri"/>
              </a:rPr>
              <a:t>Edit 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59952" y="2953512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7566B"/>
                </a:solidFill>
                <a:latin typeface="Calibri"/>
              </a:rPr>
              <a:t>double-click a word,</a:t>
            </a:r>
          </a:p>
          <a:p>
            <a:pPr algn="l">
              <a:lnSpc>
                <a:spcPct val="100000"/>
              </a:lnSpc>
            </a:pPr>
            <a:r>
              <a:rPr sz="1100" b="0">
                <a:solidFill>
                  <a:srgbClr val="47566B"/>
                </a:solidFill>
                <a:latin typeface="Calibri"/>
              </a:rPr>
              <a:t>type the replacement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0" y="3611880"/>
            <a:ext cx="365760" cy="36576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59952" y="356616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2740"/>
                </a:solidFill>
                <a:latin typeface="Calibri"/>
              </a:rPr>
              <a:t>Honest statusbar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59952" y="3867912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7566B"/>
                </a:solidFill>
                <a:latin typeface="Calibri"/>
              </a:rPr>
              <a:t>“edited (unsaved)” —</a:t>
            </a:r>
          </a:p>
          <a:p>
            <a:pPr algn="l">
              <a:lnSpc>
                <a:spcPct val="100000"/>
              </a:lnSpc>
            </a:pPr>
            <a:r>
              <a:rPr sz="1100" b="0">
                <a:solidFill>
                  <a:srgbClr val="47566B"/>
                </a:solidFill>
                <a:latin typeface="Calibri"/>
              </a:rPr>
              <a:t>Ctrl+S makes it true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17220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47566B"/>
                </a:solidFill>
                <a:latin typeface="Calibri"/>
              </a:rPr>
              <a:t>Every pixel here is the code you just saw — </a:t>
            </a:r>
            <a:r>
              <a:rPr sz="1250" b="1">
                <a:solidFill>
                  <a:srgbClr val="F97316"/>
                </a:solidFill>
                <a:latin typeface="Calibri"/>
              </a:rPr>
              <a:t>running offscreen on the test rig.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8FA3BC"/>
                </a:solidFill>
                <a:latin typeface="Calibri"/>
              </a:rPr>
              <a:t>Vibe Coding  ·  June 22, 2026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75720" y="384048"/>
            <a:ext cx="118872" cy="118872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649456" y="384048"/>
            <a:ext cx="118872" cy="11887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284C7"/>
                </a:solidFill>
                <a:latin typeface="Arial"/>
              </a:rPr>
              <a:t>EDGE CASES WE TESTED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0F2740"/>
                </a:solidFill>
                <a:latin typeface="Arial Black"/>
              </a:rPr>
              <a:t>The Bugs That Didn't Ship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45920"/>
            <a:ext cx="5486400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0936" y="1810512"/>
            <a:ext cx="457200" cy="45720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>
                <a:solidFill>
                  <a:srgbClr val="FFFFFF"/>
                </a:solidFill>
              </a:rPr>
              <a:t>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52728" y="1645920"/>
            <a:ext cx="45720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7566B"/>
                </a:solidFill>
                <a:latin typeface="Calibri"/>
              </a:rPr>
              <a:t>Open a missing file → clean error, not a crash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542032"/>
            <a:ext cx="5486400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30936" y="2706624"/>
            <a:ext cx="457200" cy="45720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2728" y="2542032"/>
            <a:ext cx="45720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7566B"/>
                </a:solidFill>
                <a:latin typeface="Calibri"/>
              </a:rPr>
              <a:t>Search miss → empty list (and 0 hits in the UI)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438144"/>
            <a:ext cx="5486400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0936" y="3602736"/>
            <a:ext cx="457200" cy="45720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>
                <a:solidFill>
                  <a:srgbClr val="FFFFFF"/>
                </a:solidFill>
              </a:rPr>
              <a:t>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2728" y="3438144"/>
            <a:ext cx="45720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7566B"/>
                </a:solidFill>
                <a:latin typeface="Calibri"/>
              </a:rPr>
              <a:t>Highlight across two lines → one annotation, two rects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645920"/>
            <a:ext cx="5486400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45936" y="1810512"/>
            <a:ext cx="457200" cy="45720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>
                <a:solidFill>
                  <a:srgbClr val="FFFFFF"/>
                </a:solidFill>
              </a:rPr>
              <a:t>✏️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67728" y="1645920"/>
            <a:ext cx="45720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7566B"/>
                </a:solidFill>
                <a:latin typeface="Calibri"/>
              </a:rPr>
              <a:t>Replace with empty text → the words just vanish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542032"/>
            <a:ext cx="5486400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45936" y="2706624"/>
            <a:ext cx="457200" cy="45720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>
                <a:solidFill>
                  <a:srgbClr val="FFFFFF"/>
                </a:solidFill>
              </a:rPr>
              <a:t>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67728" y="2542032"/>
            <a:ext cx="45720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7566B"/>
                </a:solidFill>
                <a:latin typeface="Calibri"/>
              </a:rPr>
              <a:t>Every edit: save → reopen → still there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438144"/>
            <a:ext cx="5486400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45936" y="3602736"/>
            <a:ext cx="457200" cy="45720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>
                <a:solidFill>
                  <a:srgbClr val="FFFFFF"/>
                </a:solidFill>
              </a:rPr>
              <a:t>☁️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67728" y="3438144"/>
            <a:ext cx="45720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7566B"/>
                </a:solidFill>
                <a:latin typeface="Calibri"/>
              </a:rPr>
              <a:t>Cloud-synced folders break Qt plugins — README warns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562856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47566B"/>
                </a:solidFill>
                <a:latin typeface="Calibri"/>
              </a:rPr>
              <a:t>That last one cost us 20 minutes of debugging — </a:t>
            </a:r>
            <a:r>
              <a:rPr sz="1250" b="1">
                <a:solidFill>
                  <a:srgbClr val="F97316"/>
                </a:solidFill>
                <a:latin typeface="Calibri"/>
              </a:rPr>
              <a:t>so students get it for free.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8FA3BC"/>
                </a:solidFill>
                <a:latin typeface="Calibri"/>
              </a:rPr>
              <a:t>Vibe Coding  ·  June 22, 2026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75720" y="384048"/>
            <a:ext cx="118872" cy="118872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649456" y="384048"/>
            <a:ext cx="118872" cy="11887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284C7"/>
                </a:solidFill>
                <a:latin typeface="Arial"/>
              </a:rPr>
              <a:t>STEP 5 · SHIP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0F2740"/>
                </a:solidFill>
                <a:latin typeface="Arial Black"/>
              </a:rPr>
              <a:t>From main.py to PageMark.exe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2487168" cy="2834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63040" y="2194560"/>
            <a:ext cx="566928" cy="56692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71800"/>
            <a:ext cx="230428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0F2740"/>
                </a:solidFill>
                <a:latin typeface="Calibri"/>
              </a:rPr>
              <a:t>Install the packer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3429000"/>
            <a:ext cx="215798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47566B"/>
                </a:solidFill>
                <a:latin typeface="Calibri"/>
              </a:rPr>
              <a:t>pip install pyinstaller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47566B"/>
                </a:solidFill>
                <a:latin typeface="Calibri"/>
              </a:rPr>
              <a:t>(on the Windows machine)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90088" y="2971800"/>
            <a:ext cx="411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0EA5E9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828800"/>
            <a:ext cx="2487168" cy="2834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361688" y="2194560"/>
            <a:ext cx="566928" cy="566928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3008" y="2971800"/>
            <a:ext cx="230428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0F2740"/>
                </a:solidFill>
                <a:latin typeface="Calibri"/>
              </a:rPr>
              <a:t>One command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429000"/>
            <a:ext cx="215798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47566B"/>
                </a:solidFill>
                <a:latin typeface="Calibri"/>
              </a:rPr>
              <a:t>pyinstaller --noconsole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47566B"/>
                </a:solidFill>
                <a:latin typeface="Calibri"/>
              </a:rPr>
              <a:t>--onedir --name PageMark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47566B"/>
                </a:solidFill>
                <a:latin typeface="Calibri"/>
              </a:rPr>
              <a:t>main.py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88736" y="2971800"/>
            <a:ext cx="411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0EA5E9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0216" y="1828800"/>
            <a:ext cx="2487168" cy="2834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260336" y="2194560"/>
            <a:ext cx="566928" cy="56692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1656" y="2971800"/>
            <a:ext cx="230428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0F2740"/>
                </a:solidFill>
                <a:latin typeface="Calibri"/>
              </a:rPr>
              <a:t>Test it cold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808" y="3429000"/>
            <a:ext cx="215798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47566B"/>
                </a:solidFill>
                <a:latin typeface="Calibri"/>
              </a:rPr>
              <a:t>Run dist/PageMark.exe on a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47566B"/>
                </a:solidFill>
                <a:latin typeface="Calibri"/>
              </a:rPr>
              <a:t>PC without Python installed.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87384" y="2971800"/>
            <a:ext cx="411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0EA5E9"/>
                </a:solidFill>
                <a:latin typeface="Calibr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98864" y="1828800"/>
            <a:ext cx="2487168" cy="2834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158984" y="2194560"/>
            <a:ext cx="566928" cy="566928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0304" y="2971800"/>
            <a:ext cx="230428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0F2740"/>
                </a:solidFill>
                <a:latin typeface="Calibri"/>
              </a:rPr>
              <a:t>Hand it over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63456" y="3429000"/>
            <a:ext cx="215798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47566B"/>
                </a:solidFill>
                <a:latin typeface="Calibri"/>
              </a:rPr>
              <a:t>Zip the folder — that's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47566B"/>
                </a:solidFill>
                <a:latin typeface="Calibri"/>
              </a:rPr>
              <a:t>your Windows software.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98348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97316"/>
                </a:solidFill>
                <a:latin typeface="Calibri"/>
              </a:rPr>
              <a:t>“Works on my machine” isn't shipping. </a:t>
            </a:r>
            <a:r>
              <a:rPr sz="1250" b="0">
                <a:solidFill>
                  <a:srgbClr val="47566B"/>
                </a:solidFill>
                <a:latin typeface="Calibri"/>
              </a:rPr>
              <a:t>Shipping is the cold-start test on someone else's PC.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8FA3BC"/>
                </a:solidFill>
                <a:latin typeface="Calibri"/>
              </a:rPr>
              <a:t>Vibe Coding  ·  June 22, 2026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75720" y="384048"/>
            <a:ext cx="118872" cy="118872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649456" y="384048"/>
            <a:ext cx="118872" cy="11887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284C7"/>
                </a:solidFill>
                <a:latin typeface="Arial"/>
              </a:rPr>
              <a:t>THE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0F2740"/>
                </a:solidFill>
                <a:latin typeface="Arial Black"/>
              </a:rPr>
              <a:t>The Kickoff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813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66B"/>
                </a:solidFill>
                <a:latin typeface="Calibri"/>
              </a:rPr>
              <a:t>What you type to start the whole build: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965960"/>
            <a:ext cx="10607040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2240280"/>
            <a:ext cx="457200" cy="45720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>
                <a:solidFill>
                  <a:srgbClr val="FFFFFF"/>
                </a:solidFill>
              </a:rPr>
              <a:t>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2240280"/>
            <a:ext cx="923544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47566B"/>
                </a:solidFill>
                <a:latin typeface="Calibri"/>
              </a:rPr>
              <a:t>“Build a desktop PDF reader/editor with PySide6 + PyMuPDF. </a:t>
            </a:r>
            <a:r>
              <a:rPr sz="1350" b="0">
                <a:solidFill>
                  <a:srgbClr val="47566B"/>
                </a:solidFill>
                <a:latin typeface="Calibri"/>
              </a:rPr>
              <a:t>First study Adobe Acrobat's feature set and write the design to task-22.md: </a:t>
            </a:r>
            <a:r>
              <a:rPr sz="1350" b="1">
                <a:solidFill>
                  <a:srgbClr val="0284C7"/>
                </a:solidFill>
                <a:latin typeface="Calibri"/>
              </a:rPr>
              <a:t>an honest MVP feature map</a:t>
            </a:r>
            <a:r>
              <a:rPr sz="1350" b="0">
                <a:solidFill>
                  <a:srgbClr val="47566B"/>
                </a:solidFill>
                <a:latin typeface="Calibri"/>
              </a:rPr>
              <a:t> (view, search, highlight, notes, replace-text, save), the architecture rule </a:t>
            </a:r>
            <a:r>
              <a:rPr sz="1350" b="1">
                <a:solidFill>
                  <a:srgbClr val="0284C7"/>
                </a:solidFill>
                <a:latin typeface="Calibri"/>
              </a:rPr>
              <a:t>“core never imports Qt”</a:t>
            </a:r>
            <a:r>
              <a:rPr sz="1350" b="0">
                <a:solidFill>
                  <a:srgbClr val="47566B"/>
                </a:solidFill>
                <a:latin typeface="Calibri"/>
              </a:rPr>
              <a:t>, and 10 tasks. Then build task by task — </a:t>
            </a:r>
            <a:r>
              <a:rPr sz="1350" b="1">
                <a:solidFill>
                  <a:srgbClr val="F97316"/>
                </a:solidFill>
                <a:latin typeface="Calibri"/>
              </a:rPr>
              <a:t>write the failing test first</a:t>
            </a:r>
            <a:r>
              <a:rPr sz="1350" b="0">
                <a:solidFill>
                  <a:srgbClr val="47566B"/>
                </a:solidFill>
                <a:latin typeface="Calibri"/>
              </a:rPr>
              <a:t>, make it pass, commit. Every edit must survive save → reopen. Finish with a PyInstaller recipe for a Windows .exe.”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62356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47566B"/>
                </a:solidFill>
                <a:latin typeface="Calibri"/>
              </a:rPr>
              <a:t>Then answer its questions and approve each step — </a:t>
            </a:r>
            <a:r>
              <a:rPr sz="1250" b="1">
                <a:solidFill>
                  <a:srgbClr val="F97316"/>
                </a:solidFill>
                <a:latin typeface="Calibri"/>
              </a:rPr>
              <a:t>the design doc does the steering.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8FA3BC"/>
                </a:solidFill>
                <a:latin typeface="Calibri"/>
              </a:rPr>
              <a:t>Vibe Coding  ·  June 22,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475720" y="384048"/>
            <a:ext cx="118872" cy="118872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649456" y="384048"/>
            <a:ext cx="118872" cy="11887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0" y="822960"/>
            <a:ext cx="4206240" cy="53035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0" b="0">
                <a:solidFill>
                  <a:srgbClr val="DCE6F0"/>
                </a:solidFill>
                <a:latin typeface="Arial Black"/>
              </a:rPr>
              <a:t>&lt;/&gt;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1828800"/>
            <a:ext cx="777240" cy="77724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>
                <a:solidFill>
                  <a:srgbClr val="FFFFFF"/>
                </a:solidFill>
              </a:rPr>
              <a:t>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88920"/>
            <a:ext cx="7772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0">
                <a:solidFill>
                  <a:srgbClr val="0F2740"/>
                </a:solidFill>
                <a:latin typeface="Arial Black"/>
              </a:rPr>
              <a:t>Let's build PageMark.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284C7"/>
                </a:solidFill>
                <a:latin typeface="Calibri"/>
              </a:rPr>
              <a:t>Plan it.  </a:t>
            </a:r>
            <a:r>
              <a:rPr sz="1700" b="1">
                <a:solidFill>
                  <a:srgbClr val="F97316"/>
                </a:solidFill>
                <a:latin typeface="Calibri"/>
              </a:rPr>
              <a:t>Test it.  </a:t>
            </a:r>
            <a:r>
              <a:rPr sz="1700" b="0">
                <a:solidFill>
                  <a:srgbClr val="47566B"/>
                </a:solidFill>
                <a:latin typeface="Calibri"/>
              </a:rPr>
              <a:t>Ship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093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FA3BC"/>
                </a:solidFill>
                <a:latin typeface="Calibri"/>
              </a:rPr>
              <a:t>Vibe Coding  ·  Day 7  ·  June 22,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