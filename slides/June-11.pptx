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0526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182880"/>
            <a:ext cx="429768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0" b="1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&lt;/&gt;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02920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216152" y="1874520"/>
            <a:ext cx="164592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INSTITUTE  ·  MODULE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24231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MCP, Subagents, Plugins</a:t>
            </a:r>
            <a:endParaRPr lang="en-US" sz="56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Superpowers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blog </a:t>
            </a:r>
            <a:r>
              <a:rPr lang="en-US" sz="2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engineer's way.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5212080"/>
            <a:ext cx="45720" cy="502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52120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 —  June 11,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Plan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233172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56946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23317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 · Power-ups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143000" y="35661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plug in tools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— helper AIs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— bundles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Superpowers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217920" y="196596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0" y="2331720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56946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80960" y="23317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 · Build a blog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720840" y="356616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tasks (task-11.md)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tests (TDD)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kickoff prompt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TOOLS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MCP?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023360" cy="3657600"/>
          </a:xfrm>
          <a:prstGeom prst="roundRect">
            <a:avLst>
              <a:gd name="adj" fmla="val 2000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65960" y="2423160"/>
            <a:ext cx="1371600" cy="13716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576" y="2779776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93192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plug for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many tools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983480" y="20116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202936" y="21945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23134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52160" y="21214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Context Protocol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852160" y="24414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way for AI to reach the outside world.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983480" y="29260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202936" y="310896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1808" y="322783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52160" y="30358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Talks to “servers”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852160" y="33558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server offers tools or data the AI can use.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4983480" y="38404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5202936" y="40233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808" y="4142232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852160" y="39502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standard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852160" y="42702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wiring for every tool — it just connects.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4983480" y="4983480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Anthropic.  </a:t>
            </a:r>
            <a:r>
              <a:rPr lang="en-US" sz="14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MCP, every tool needed its own special wiring.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USEFUL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MCP Can Do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9224" y="2103120"/>
            <a:ext cx="2633472" cy="11887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3040" y="25146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558" y="2776118"/>
            <a:ext cx="482803" cy="482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Know your code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22960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whole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for context.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502152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511296" y="2103120"/>
            <a:ext cx="2633472" cy="11887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325112" y="25146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630" y="2776118"/>
            <a:ext cx="482803" cy="482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02152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 tools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685032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build,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deploy.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364224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73368" y="2103120"/>
            <a:ext cx="2633472" cy="11887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87184" y="25146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8702" y="2776118"/>
            <a:ext cx="482803" cy="48280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64224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data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547104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databases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APIs.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9226296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9235440" y="2103120"/>
            <a:ext cx="2633472" cy="11887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10049256" y="25146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0774" y="2776118"/>
            <a:ext cx="482803" cy="48280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26296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 docs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9409176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guides and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practices.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HELPER AIs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Are Subagents?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subagent is a helper AI the main agent hands a job 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71600" y="2834640"/>
            <a:ext cx="1097280" cy="109728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893" y="3119933"/>
            <a:ext cx="526694" cy="5266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977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Main Agent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out jobs,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the results.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26280" y="3611880"/>
            <a:ext cx="566928" cy="56692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81" y="3759281"/>
            <a:ext cx="272125" cy="272125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212080" y="2468880"/>
            <a:ext cx="6309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31536" y="2633472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2752344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80760" y="246888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writer    </a:t>
            </a:r>
            <a:r>
              <a:rPr lang="en-US" sz="15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tests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212080" y="3383280"/>
            <a:ext cx="6309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431536" y="3547872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0408" y="3666744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080760" y="338328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reviewer    </a:t>
            </a:r>
            <a:r>
              <a:rPr lang="en-US" sz="15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the code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212080" y="4297680"/>
            <a:ext cx="6309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5431536" y="4462272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0408" y="458114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080760" y="429768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Searcher    </a:t>
            </a:r>
            <a:r>
              <a:rPr lang="en-US" sz="15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things in the project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works in its own space, </a:t>
            </a: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reports back a short result.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THEY HELP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Use Subagents?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9224" y="2103120"/>
            <a:ext cx="2633472" cy="11887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63040" y="25146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558" y="2776118"/>
            <a:ext cx="482803" cy="482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Focused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22960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one role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its own tools.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502152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511296" y="2103120"/>
            <a:ext cx="2633472" cy="11887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325112" y="25146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630" y="2776118"/>
            <a:ext cx="482803" cy="482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02152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Clean context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685032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chat sees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short report.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364224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73368" y="2103120"/>
            <a:ext cx="2633472" cy="11887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87184" y="25146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8702" y="2776118"/>
            <a:ext cx="482803" cy="48280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64224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547104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can work at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time.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9226296" y="210312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9235440" y="2103120"/>
            <a:ext cx="2633472" cy="11887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10049256" y="25146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0774" y="2776118"/>
            <a:ext cx="482803" cy="48280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26296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Safer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9409176" y="4206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tools means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can go wrong.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Superpowers uses this:  </a:t>
            </a:r>
            <a:r>
              <a:rPr lang="en-US" sz="15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 build and review each task.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 PLUGIN?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Plugin Is a Bundle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plugin packages many power-ups together — install once, get them all.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32688" y="278892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8" y="300289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20240" y="2788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62272" y="2423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2788920"/>
            <a:ext cx="822960" cy="8229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50" y="3002890"/>
            <a:ext cx="395021" cy="39502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42432" y="2788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284464" y="2423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577072" y="278892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1042" y="3002890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564624" y="2788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Subagents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40080" y="40233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688" y="4389120"/>
            <a:ext cx="822960" cy="8229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658" y="460309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920240" y="4389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servers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462272" y="40233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754880" y="438912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8850" y="460309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742432" y="4389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284464" y="40233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8577072" y="4389120"/>
            <a:ext cx="822960" cy="8229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1042" y="4603090"/>
            <a:ext cx="395021" cy="395021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9564624" y="4389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Commands</a:t>
            </a:r>
            <a:endParaRPr lang="en-US" sz="1800" dirty="0"/>
          </a:p>
        </p:txBody>
      </p:sp>
      <p:sp>
        <p:nvSpPr>
          <p:cNvPr id="31" name="Text 2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them from the </a:t>
            </a:r>
            <a:r>
              <a:rPr lang="en-US" sz="14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Marketplace</a:t>
            </a:r>
            <a:r>
              <a:rPr lang="en-US" sz="14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or build and share your own.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 PLUGIN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Superpowers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023360" cy="3657600"/>
          </a:xfrm>
          <a:prstGeom prst="roundRect">
            <a:avLst>
              <a:gd name="adj" fmla="val 2000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65960" y="2377440"/>
            <a:ext cx="1371600" cy="13716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576" y="2734056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840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real engineering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 for the AI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4983480" y="20116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202936" y="21945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23134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52160" y="21214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Plans before coding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852160" y="24414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the design with you first.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983480" y="29260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202936" y="310896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1808" y="322783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52160" y="30358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Tests first (TDD)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5852160" y="33558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failing test, then the code.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4983480" y="3840480"/>
            <a:ext cx="68122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5202936" y="4023360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808" y="4142232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852160" y="395020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 its work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852160" y="4270248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build and check each task.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4983480" y="4983480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popular plugin  </a:t>
            </a:r>
            <a:r>
              <a:rPr lang="en-US" sz="14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(90k+ stars) — and it's in the Marketplace.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SUPERPOWERS WORKS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Brainstorm → Plan → Build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2918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37360" y="2651760"/>
            <a:ext cx="1097280" cy="109728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653" y="2937053"/>
            <a:ext cx="526694" cy="52669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913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  Brainstorm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3708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questions and shapes the design with you.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968496" y="3383280"/>
            <a:ext cx="566928" cy="56692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897" y="3530681"/>
            <a:ext cx="272125" cy="27212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2286000"/>
            <a:ext cx="32918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669280" y="2651760"/>
            <a:ext cx="1097280" cy="109728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573" y="2937053"/>
            <a:ext cx="526694" cy="52669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913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 Plan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800600" y="43708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step-by-step plan — tests first, no extra stuff.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900416" y="3383280"/>
            <a:ext cx="566928" cy="56692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817" y="3530681"/>
            <a:ext cx="272125" cy="272125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503920" y="2286000"/>
            <a:ext cx="32918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9601200" y="2651760"/>
            <a:ext cx="1097280" cy="109728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6493" y="2937053"/>
            <a:ext cx="526694" cy="52669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503920" y="3913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  Build &amp; Test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8732520" y="43708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 build each task, test it, and review.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stay in charge:  </a:t>
            </a:r>
            <a:r>
              <a:rPr lang="en-US" sz="16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each step before it moves on.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PLUGIN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Superpowers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221992"/>
            <a:ext cx="438912" cy="438912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221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05740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Cursor Settings → Plugins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" y="3136392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1363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297180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“superpowers” in search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4050792"/>
            <a:ext cx="438912" cy="438912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050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8620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plugin → Install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2960" y="4965192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4965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480060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adds the skills to your Agent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0" y="2011680"/>
            <a:ext cx="6309360" cy="3703320"/>
          </a:xfrm>
          <a:prstGeom prst="roundRect">
            <a:avLst>
              <a:gd name="adj" fmla="val 1235"/>
            </a:avLst>
          </a:prstGeom>
          <a:solidFill>
            <a:srgbClr val="F4F8FC"/>
          </a:solidFill>
          <a:ln w="12700">
            <a:solidFill>
              <a:srgbClr val="DCE6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bookimg/use_superpow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890" y="2121408"/>
            <a:ext cx="5512380" cy="34838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Reference: Vibe Coding book · Chapter 9 (Web Development)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Blog, the Engineer's Way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25880" y="27432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398" y="3004718"/>
            <a:ext cx="482803" cy="482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950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  Requirements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4672" y="43891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it do?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072384" y="3429000"/>
            <a:ext cx="512064" cy="51206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521" y="3562137"/>
            <a:ext cx="245791" cy="245791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502152" y="237744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187952" y="27432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9470" y="3004718"/>
            <a:ext cx="482803" cy="482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02152" y="3950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 Break into tasks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3666744" y="43891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steps + a plan.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34456" y="3429000"/>
            <a:ext cx="512064" cy="512064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593" y="3562137"/>
            <a:ext cx="245791" cy="245791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64224" y="237744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050024" y="2743200"/>
            <a:ext cx="1005840" cy="10058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542" y="3004718"/>
            <a:ext cx="482803" cy="48280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364224" y="3950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  Build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6528816" y="43891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it, one task at a time.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8796528" y="3429000"/>
            <a:ext cx="512064" cy="51206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9665" y="3562137"/>
            <a:ext cx="245791" cy="245791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9226296" y="237744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9912096" y="274320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73614" y="3004718"/>
            <a:ext cx="482803" cy="482803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9226296" y="3950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  Test</a:t>
            </a:r>
            <a:endParaRPr lang="en-US" sz="1550" dirty="0"/>
          </a:p>
        </p:txBody>
      </p:sp>
      <p:sp>
        <p:nvSpPr>
          <p:cNvPr id="31" name="Text 22"/>
          <p:cNvSpPr/>
          <p:nvPr/>
        </p:nvSpPr>
        <p:spPr>
          <a:xfrm>
            <a:off x="9390888" y="43891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feature.</a:t>
            </a:r>
            <a:endParaRPr lang="en-US" sz="1250" dirty="0"/>
          </a:p>
        </p:txBody>
      </p:sp>
      <p:sp>
        <p:nvSpPr>
          <p:cNvPr id="32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steps real software engineers use.</a:t>
            </a:r>
            <a:endParaRPr lang="en-US" sz="1600" dirty="0"/>
          </a:p>
        </p:txBody>
      </p:sp>
      <p:sp>
        <p:nvSpPr>
          <p:cNvPr id="33" name="Text 2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· BRAINSTORM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 What the Blog Needs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with the AI first. List what the blog must do — before any code.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41248" y="2523744"/>
            <a:ext cx="420624" cy="420624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10" y="263310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237744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/ Log in / Log out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2377440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19088" y="2523744"/>
            <a:ext cx="420624" cy="4206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450" y="2633106"/>
            <a:ext cx="201900" cy="201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995160" y="237744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Write, edit, delete posts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218688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41248" y="3364992"/>
            <a:ext cx="420624" cy="420624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10" y="3474354"/>
            <a:ext cx="201900" cy="2019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218688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page: list of posts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217920" y="3218688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19088" y="3364992"/>
            <a:ext cx="420624" cy="4206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450" y="347435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95160" y="3218688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page with comments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640080" y="4059936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841248" y="4206240"/>
            <a:ext cx="420624" cy="420624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10" y="4315602"/>
            <a:ext cx="201900" cy="2019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059936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/ dislike a post</a:t>
            </a:r>
            <a:endParaRPr lang="en-US" sz="1500" dirty="0"/>
          </a:p>
        </p:txBody>
      </p:sp>
      <p:sp>
        <p:nvSpPr>
          <p:cNvPr id="27" name="Shape 20"/>
          <p:cNvSpPr/>
          <p:nvPr/>
        </p:nvSpPr>
        <p:spPr>
          <a:xfrm>
            <a:off x="6217920" y="4059936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6419088" y="4206240"/>
            <a:ext cx="420624" cy="4206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450" y="4315602"/>
            <a:ext cx="201900" cy="2019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995160" y="4059936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posts</a:t>
            </a:r>
            <a:endParaRPr lang="en-US" sz="1500" dirty="0"/>
          </a:p>
        </p:txBody>
      </p:sp>
      <p:sp>
        <p:nvSpPr>
          <p:cNvPr id="31" name="Shape 23"/>
          <p:cNvSpPr/>
          <p:nvPr/>
        </p:nvSpPr>
        <p:spPr>
          <a:xfrm>
            <a:off x="640080" y="4901184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841248" y="5047488"/>
            <a:ext cx="420624" cy="420624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10" y="5156850"/>
            <a:ext cx="201900" cy="20190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417320" y="4901184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/ dark theme</a:t>
            </a:r>
            <a:endParaRPr lang="en-US" sz="1500" dirty="0"/>
          </a:p>
        </p:txBody>
      </p:sp>
      <p:sp>
        <p:nvSpPr>
          <p:cNvPr id="35" name="Shape 26"/>
          <p:cNvSpPr/>
          <p:nvPr/>
        </p:nvSpPr>
        <p:spPr>
          <a:xfrm>
            <a:off x="6217920" y="4901184"/>
            <a:ext cx="53035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7"/>
          <p:cNvSpPr/>
          <p:nvPr/>
        </p:nvSpPr>
        <p:spPr>
          <a:xfrm>
            <a:off x="6419088" y="5047488"/>
            <a:ext cx="420624" cy="420624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450" y="5156850"/>
            <a:ext cx="201900" cy="20190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6995160" y="4901184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online (Cloudflare)</a:t>
            </a:r>
            <a:endParaRPr lang="en-US" sz="1500" dirty="0"/>
          </a:p>
        </p:txBody>
      </p:sp>
      <p:sp>
        <p:nvSpPr>
          <p:cNvPr id="39" name="Text 29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 </a:t>
            </a:r>
            <a:r>
              <a:rPr lang="en-US" sz="14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idea down clearly — a vague plan makes a vague app.</a:t>
            </a:r>
            <a:endParaRPr lang="en-US" sz="1450" dirty="0"/>
          </a:p>
        </p:txBody>
      </p:sp>
      <p:sp>
        <p:nvSpPr>
          <p:cNvPr id="40" name="Text 3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BREAK IT 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a Plan: task-11.md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023360" cy="3657600"/>
          </a:xfrm>
          <a:prstGeom prst="roundRect">
            <a:avLst>
              <a:gd name="adj" fmla="val 2000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965960" y="2377440"/>
            <a:ext cx="1371600" cy="13716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576" y="2734056"/>
            <a:ext cx="658368" cy="658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8862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Split the big idea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into small tasks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4983480" y="2011680"/>
            <a:ext cx="68122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166360" y="2130552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166360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715000" y="2011680"/>
            <a:ext cx="5897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+ database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983480" y="2761488"/>
            <a:ext cx="68122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166360" y="28803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166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715000" y="2761488"/>
            <a:ext cx="5897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/ log in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983480" y="3511296"/>
            <a:ext cx="68122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166360" y="3630168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1663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715000" y="3511296"/>
            <a:ext cx="5897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Posts: add/edit/delete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983480" y="4261104"/>
            <a:ext cx="68122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166360" y="4379976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16636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15000" y="4261104"/>
            <a:ext cx="5897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&amp; likes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5010912"/>
            <a:ext cx="68122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5166360" y="5129784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16636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715000" y="5010912"/>
            <a:ext cx="5897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theme, then deploy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983480" y="5852160"/>
            <a:ext cx="6812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whole design in </a:t>
            </a:r>
            <a:r>
              <a:rPr lang="en-US" sz="13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task-11.md</a:t>
            </a:r>
            <a:r>
              <a:rPr lang="en-US" sz="135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build one task at a time.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FILE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Inside task-11.md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6400800" cy="3703320"/>
          </a:xfrm>
          <a:prstGeom prst="roundRect">
            <a:avLst>
              <a:gd name="adj" fmla="val 1481"/>
            </a:avLst>
          </a:prstGeom>
          <a:solidFill>
            <a:srgbClr val="EEF4FA"/>
          </a:solidFill>
          <a:ln w="12700">
            <a:solidFill>
              <a:srgbClr val="DCE6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77824" y="2176272"/>
            <a:ext cx="594360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27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task-11.md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sign up / log in / log out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posts: create, edit, delete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comments, likes, search, theme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Database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users(id, name, password_hash)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posts(id, author_id, title, body)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comments(id, post_id, user_id, body)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reactions(id, post_id, user_id, kind)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Tasks (tests first)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756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setup  2 auth  3 posts  4 likes ...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0" y="2011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inside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0" y="2551176"/>
            <a:ext cx="310896" cy="310896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&amp; goals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3099816"/>
            <a:ext cx="310896" cy="310896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0" y="3035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0" y="3648456"/>
            <a:ext cx="310896" cy="310896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0" y="35844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(folders)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0" y="4197096"/>
            <a:ext cx="310896" cy="310896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0" y="4133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schema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4745736"/>
            <a:ext cx="310896" cy="310896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0" y="46817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/ API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0" y="5294376"/>
            <a:ext cx="310896" cy="310896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0" y="5230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list + tests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· BUILD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Build, One Task at a Time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32688" y="2450592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688336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011680" y="2423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first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01168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failing test for the task.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17920" y="2148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10528" y="2450592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2688336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89520" y="2423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it pass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58952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just enough code to work.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40080" y="3840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932688" y="4142232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4379976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011680" y="4114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 it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2011680" y="4617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subagent checks the code.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217920" y="3840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6510528" y="4142232"/>
            <a:ext cx="914400" cy="91440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4379976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589520" y="4114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Commit &amp; push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7589520" y="4617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version, then move on.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steps keep the app working the whole time.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· TEST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Red → Green → Repeat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83080" y="2651760"/>
            <a:ext cx="1005840" cy="1005840"/>
          </a:xfrm>
          <a:prstGeom prst="ellipse">
            <a:avLst/>
          </a:prstGeom>
          <a:solidFill>
            <a:srgbClr val="E243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test.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fails (no code yet).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68496" y="3383280"/>
            <a:ext cx="566928" cy="56692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5897" y="3530681"/>
            <a:ext cx="272125" cy="27212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0" y="228600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715000" y="2651760"/>
            <a:ext cx="1005840" cy="10058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0" y="3840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Green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0060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 until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passes.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00416" y="3383280"/>
            <a:ext cx="566928" cy="56692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817" y="3530681"/>
            <a:ext cx="272125" cy="27212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503920" y="228600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6F0"/>
            </a:solidFill>
            <a:prstDash val="solid"/>
          </a:ln>
          <a:effectLst>
            <a:outerShdw blurRad="88900" dist="25400" dir="5400000" algn="bl" rotWithShape="0">
              <a:srgbClr val="8FA3BC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9646920" y="2651760"/>
            <a:ext cx="1005840" cy="1005840"/>
          </a:xfrm>
          <a:prstGeom prst="ellipse">
            <a:avLst/>
          </a:prstGeom>
          <a:solidFill>
            <a:srgbClr val="22A0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503920" y="3840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Refactor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73252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the code,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still pass.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everything:  </a:t>
            </a:r>
            <a:r>
              <a:rPr lang="en-US" sz="1600" b="1" dirty="0">
                <a:solidFill>
                  <a:srgbClr val="0F27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pages, login rules, saved data, and edge cases.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457200"/>
            <a:ext cx="146304" cy="146304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503152" y="457200"/>
            <a:ext cx="146304" cy="14630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EXAMPLE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Kickoff Prompt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type to start the whole build: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881360" cy="2743200"/>
          </a:xfrm>
          <a:prstGeom prst="roundRect">
            <a:avLst>
              <a:gd name="adj" fmla="val 3333"/>
            </a:avLst>
          </a:prstGeom>
          <a:solidFill>
            <a:srgbClr val="E6F2FB"/>
          </a:solidFill>
          <a:ln w="12700">
            <a:solidFill>
              <a:srgbClr val="DCE6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606040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" y="27962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74520" y="246888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“Build a blog with Flask + SQLite. Use the Superpowers workflow: </a:t>
            </a:r>
            <a:r>
              <a:rPr lang="en-US" sz="16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</a:t>
            </a:r>
            <a:r>
              <a:rPr lang="en-US" sz="16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requirements with me, write the design to </a:t>
            </a:r>
            <a:r>
              <a:rPr lang="en-US" sz="165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task-11.md</a:t>
            </a:r>
            <a:r>
              <a:rPr lang="en-US" sz="16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</a:t>
            </a:r>
            <a:r>
              <a:rPr lang="en-US" sz="16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task by task with tests first</a:t>
            </a:r>
            <a:r>
              <a:rPr lang="en-US" sz="16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Features: sign up / log in / log out, write/edit/delete posts, a home list, post pages, comments, likes, and a light/dark theme. </a:t>
            </a:r>
            <a:r>
              <a:rPr lang="en-US" sz="16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after each passing test</a:t>
            </a:r>
            <a:r>
              <a:rPr lang="en-US" sz="1650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Ask me questions before you start.”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just answer its questions and </a:t>
            </a: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each step.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June 11, 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182880"/>
            <a:ext cx="50292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0" b="1" dirty="0">
                <a:solidFill>
                  <a:srgbClr val="E2EE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{ }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640080" y="2194560"/>
            <a:ext cx="1097280" cy="109728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2479853"/>
            <a:ext cx="526694" cy="5266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3429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F27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the blog.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4526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it.  Test it.  </a:t>
            </a:r>
            <a:r>
              <a:rPr lang="en-US" sz="22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58368" y="5577840"/>
            <a:ext cx="365760" cy="12801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78992" y="5577840"/>
            <a:ext cx="146304" cy="12801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 ·  Day 3  ·  June 11,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1229</Words>
  <Application>Microsoft Macintosh PowerPoint</Application>
  <PresentationFormat>Widescreen</PresentationFormat>
  <Paragraphs>236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MCP, Plugins &amp; Superpowers</dc:title>
  <dc:subject>PptxGenJS Presentation</dc:subject>
  <dc:creator>Daze Lu</dc:creator>
  <cp:lastModifiedBy>Daze Lu</cp:lastModifiedBy>
  <cp:revision>2</cp:revision>
  <dcterms:created xsi:type="dcterms:W3CDTF">2026-06-10T07:08:55Z</dcterms:created>
  <dcterms:modified xsi:type="dcterms:W3CDTF">2026-06-11T07:39:43Z</dcterms:modified>
</cp:coreProperties>
</file>