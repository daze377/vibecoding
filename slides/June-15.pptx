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64008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990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STEM INSTITUTE  ·  MODULE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7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Word, Excel &amp; LaTeX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7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AI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AI for everyday work — let AI do your paperwork.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41248" y="5257800"/>
            <a:ext cx="10058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413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  —  June 15,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Paper Superpowers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never click a menu. You tell the AI what you want — it writes the file for you.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9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35844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letters, certificates — written and formatted for you.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11396" y="201168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1436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539996" y="2359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1436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3148" y="35844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31436" y="4069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formulas, summaries and charts — in seconds.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74152" y="201168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94192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2359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94192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75904" y="35844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LaTeX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394192" y="4069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scientists' way to make beautiful PDFs — with perfect math.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650992"/>
            <a:ext cx="11091672" cy="475488"/>
          </a:xfrm>
          <a:prstGeom prst="roundRect">
            <a:avLst>
              <a:gd name="adj" fmla="val 13462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41848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class with a report, a gradebook and a math homework — all made by prompts.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 Are Made of Code Too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860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ask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3657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a Word report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our pet survey."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72384" y="3017520"/>
            <a:ext cx="274320" cy="274320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6744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456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writes a tiny program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48456" y="3657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lines of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build the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34456" y="3017520"/>
            <a:ext cx="274320" cy="274320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28816" y="22860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437376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program runs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10528" y="3657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report.docx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computer.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96528" y="3017520"/>
            <a:ext cx="274320" cy="274320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9134856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90888" y="228600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299448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72600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open &amp; check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372600" y="3657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it? Done.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yet? Ask for changes.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111496"/>
            <a:ext cx="107259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  </a:t>
            </a:r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.docx or .xlsx file is just structured data. Python libraries can write that data — so anything you can describe, AI can build. </a:t>
            </a:r>
            <a:pPr indent="0" marL="0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describe, AI builds, you check.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WORD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AI Can Do with Word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836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reports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5420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headings, paragraphs — full documents from one prompt.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1396" y="1627632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5716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494276" y="18836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5796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 everything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4004" y="25420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Fonts, colors, spacing, page numbers — applied in one go.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1627632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8472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8257032" y="18836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88552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&amp; replace at 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5420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name or date across 50 documents at once.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12464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68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tables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46268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lists or data into clean Word tables.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1396" y="3712464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5716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494276" y="3968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25796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Merge documents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4004" y="46268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many .docx files into one, in order.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3712464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257032" y="3968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88552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text out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6268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text from documents to summarize or reuse.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843016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boring parts of homework and office work — </a:t>
            </a:r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WORD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Helper: python-docx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make_report.py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5778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 writes this for you — just read along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docx import Document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Document()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doc.add_heading("Pet Survey Report", 0)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doc.add_paragraph("We asked 24 students.")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doc.add_table(rows=1, cols=2)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table.rows[0].cells[0].text = "Pet"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table.rows[0].cells[1].text = "Votes"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doc.save("report.docx")
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8006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each line does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Document()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empty Word file.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50608" y="3127248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add_heading / add_paragraph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titles and text.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50608" y="3968496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add_table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tables row by row.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50608" y="4809744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save(...)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real .docx — open it in Word!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memorize this.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need to recognize what the AI wrote before you run it.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WORD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Certificates in One 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3291840"/>
          </a:xfrm>
          <a:prstGeom prst="roundRect">
            <a:avLst>
              <a:gd name="adj" fmla="val 1944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TO CURSOR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names.xlsx with 20 student names.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student, make a Word certificate that says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‘Awarded to NAME for finishing Week 1’ —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title, centered, with today’s date.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them in a folder called certificates."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49440" y="160020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78040" y="1828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068312" y="1819656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1709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names.xlsx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names in one column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2487168"/>
            <a:ext cx="274320" cy="237744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274320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2971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7068312" y="2962656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2852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 for each name 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one small loop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3630168"/>
            <a:ext cx="274320" cy="237744"/>
          </a:xfrm>
          <a:prstGeom prst="downArrow">
            <a:avLst/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3886200"/>
            <a:ext cx="4663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411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4105656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3995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certificates/ (20 files)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4343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amy.docx, ben.docx, ...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48656"/>
            <a:ext cx="107259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superpower: </a:t>
            </a:r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once is easy — doing it 20 times by hand takes an hour. A loop does it in one second. The bigger the boring job, the bigger the win.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· WE REALLY RAN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Run: Report &amp; Certificates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1672" cy="1481328"/>
          </a:xfrm>
          <a:prstGeom prst="roundRect">
            <a:avLst>
              <a:gd name="adj" fmla="val 493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18488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18488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18488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8897112" y="155448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865376"/>
            <a:ext cx="10634472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make_report.py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report.docx created — open it in Word!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make_certificates.py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— 20 certificates in certificates/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86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pic>
        <p:nvPicPr>
          <p:cNvPr id="12" name="Image 0" descr="ex_repor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346704"/>
            <a:ext cx="4434840" cy="2450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58338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report.docx — heading, table, paragraphs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3154680"/>
            <a:ext cx="5486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pic>
        <p:nvPicPr>
          <p:cNvPr id="15" name="Image 1" descr="ex_cert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401568"/>
            <a:ext cx="4480560" cy="23225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55080" y="58338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certificates/amy.docx — one of the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EXCEL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AI Can Do with Excel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836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 messy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5420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dates, remove duplicates, fill blanks — automatically.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1396" y="1627632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5716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494276" y="18836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5796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formulas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4004" y="25420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IF, VLOOKUP — AI writes them correctly.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1627632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8472" y="1901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257032" y="18836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88552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Summarize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54203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per class, per month, per student — instantly.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12464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68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charts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46268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 and pie charts straight from your table.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1396" y="3712464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5716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494276" y="3968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25796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Merge sheets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4004" y="46268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12 monthly files into one yearly sheet.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3712464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39867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257032" y="39684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88552" y="39502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mistakes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62686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weird numbers: a grade of 250? a negative age?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843016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(Day 6) we go further: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analysis and machine learning.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EXCEL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Helper: openpyxl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make_grades.py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5778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openpyxl import Workbook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 = Workbook()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 = wb.active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ws.append(["Name", "Quiz 1", "Quiz 2"])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ws.append(["Amy", 9, 10])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ws.append(["Ben", 7, 8])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real Excel formula in a cell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ws["D1"] = "Average"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ws["D2"] = "=AVERAGE(B2:C2)"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wb.save("grades.xlsx")
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8006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each line does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0608" y="22860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Workbook()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new empty spreadsheet.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50608" y="3127248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append([...])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row — header or data.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50608" y="3968496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ws["D2"] = "=AVERAGE..."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live formula in a cell, just like typing it in Excel.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50608" y="4809744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save(...)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real .xlsx file.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stay live: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quiz score in Excel and the average updates itself.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EXCEL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The Class Gradebook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3657600"/>
          </a:xfrm>
          <a:prstGeom prst="roundRect">
            <a:avLst>
              <a:gd name="adj" fmla="val 1750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TO CURSOR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5486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grades.xlsx for 10 students with 3 quiz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example scores. Add: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Average column (real formula)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class-average row at the bottom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bold header with a blue background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highlight any average above 9 in green."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0" y="1554480"/>
            <a:ext cx="480060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 back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50608" y="2286000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.xlsx — open it in Excel and it just works.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50608" y="3035808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formulas, not pasted numbers.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50608" y="3785616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and bold headers already set.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50608" y="453542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chart too? Just add one more sentence.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52297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prompt pattern: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file, the columns, and exactly how it should look. Specific prompt → perfect file.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LATEX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LaTeX?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("LAY-tek") is how scientists write papers and books: you write text-code, it builds a beautiful PDF.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 buttons to style things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374136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letters and reports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05079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formulas are clumsy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727448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can jump around as you edit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53492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F9C9A3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697480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code that describes the page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3374136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Perfect, beautiful math — its superpower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4050792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Numbering, references: all automatic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4727448"/>
            <a:ext cx="48463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always builds the same PDF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75157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</a:t>
            </a:r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is "vibe coding for documents" — and your textbook for this class was written in it.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LATEX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Tiny LaTeX Document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hello.tex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\documentclass{article}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\begin{document}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\section{My First Page}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Hello! LaTeX makes clean pages.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 is easy: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\[ E = mc^2 \]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2059"/>
              </a:lnSpc>
              <a:buNone/>
            </a:pPr>
            <a:r>
              <a:rPr lang="en-US" sz="14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\end{document}
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5120" y="1554480"/>
            <a:ext cx="498348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PDF IT BUILDS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2148840"/>
            <a:ext cx="3977640" cy="3200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My First Page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Hello! LaTeX makes clean pages.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is easy: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mc</a:t>
            </a:r>
            <a:pPr algn="ctr" indent="0" marL="0">
              <a:buNone/>
            </a:pPr>
            <a:r>
              <a:rPr lang="en-US" sz="1700" i="1" baseline="30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\section, \begin, \end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commands start with a backslash. Everything else is just your text.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LATEX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Math Superpower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code on the left — get perfect math on the right.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120640" cy="749808"/>
          </a:xfrm>
          <a:prstGeom prst="roundRect">
            <a:avLst>
              <a:gd name="adj" fmla="val 8537"/>
            </a:avLst>
          </a:prstGeom>
          <a:solidFill>
            <a:srgbClr val="0F27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65376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x^2 + y^2 = r^2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70448" y="2103120"/>
            <a:ext cx="384048" cy="292608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7452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65376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buNone/>
            </a:pPr>
            <a:r>
              <a:rPr lang="en-US" sz="1600" i="1" baseline="3000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16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600" i="1" baseline="3000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indent="0" marL="0">
              <a:buNone/>
            </a:pPr>
            <a:r>
              <a:rPr lang="en-US" sz="16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600" i="1" baseline="3000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120640" cy="749808"/>
          </a:xfrm>
          <a:prstGeom prst="roundRect">
            <a:avLst>
              <a:gd name="adj" fmla="val 8537"/>
            </a:avLst>
          </a:prstGeom>
          <a:solidFill>
            <a:srgbClr val="0F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98064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\frac{1}{2}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70448" y="3035808"/>
            <a:ext cx="384048" cy="292608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807208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9896"/>
            <a:ext cx="5120640" cy="749808"/>
          </a:xfrm>
          <a:prstGeom prst="roundRect">
            <a:avLst>
              <a:gd name="adj" fmla="val 8537"/>
            </a:avLst>
          </a:prstGeom>
          <a:solidFill>
            <a:srgbClr val="0F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30752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\sqrt{16} = 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70448" y="3968496"/>
            <a:ext cx="384048" cy="292608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739896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730752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√16 = 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672584"/>
            <a:ext cx="5120640" cy="749808"/>
          </a:xfrm>
          <a:prstGeom prst="roundRect">
            <a:avLst>
              <a:gd name="adj" fmla="val 8537"/>
            </a:avLst>
          </a:prstGeom>
          <a:solidFill>
            <a:srgbClr val="0F274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\pi \approx 3.14159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870448" y="4901184"/>
            <a:ext cx="384048" cy="292608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4672584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663440"/>
            <a:ext cx="4663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≈ 3.14159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28254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93992" y="3182112"/>
            <a:ext cx="219456" cy="0"/>
          </a:xfrm>
          <a:prstGeom prst="line">
            <a:avLst/>
          </a:prstGeom>
          <a:noFill/>
          <a:ln w="15875">
            <a:solidFill>
              <a:srgbClr val="0F2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19125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2807208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number stacked over the other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9729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scientists love it: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equation editor, no clicking — math is just typed.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8" grpId="0"/>
      <p:bldP spid="11" grpId="0"/>
      <p:bldP spid="12" grpId="0"/>
      <p:bldP spid="14" grpId="0"/>
      <p:bldP spid="25" grpId="0"/>
      <p:bldP spid="26" grpId="0"/>
      <p:bldP spid="27" grpId="0"/>
      <p:bldP spid="28" grpId="0"/>
      <p:bldP spid="13" grpId="0"/>
      <p:bldP spid="15" grpId="0"/>
      <p:bldP spid="16" grpId="0"/>
      <p:bldP spid="18" grpId="0"/>
      <p:bldP spid="19" grpId="0"/>
      <p:bldP spid="17" grpId="0"/>
      <p:bldP spid="20" grpId="0"/>
      <p:bldP spid="21" grpId="0"/>
      <p:bldP spid="23" grpId="0"/>
      <p:bldP spid="24" grpId="0"/>
      <p:bldP spid="22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LATEX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 You Run LaTeX?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574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436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FOR CLASS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Overleaf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overleaf.com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website — type on the left, see the PDF on the right. Nothing to install.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1396" y="17830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4004" y="20574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4004" y="20436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85716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your PC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4004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 Live / MiKTeX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4004" y="35204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once, build PDFs offline. More setup, more power.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0574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0436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WAY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48472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AI in Cursor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676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project folder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5204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Cursor what you need — it writes the .tex file. Paste it into Overleaf to build.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52297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writes the LaTeX, Overleaf turns it into a PDF. Two tabs, zero installs.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LATEX ·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Homework, but Beautiful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3657600"/>
          </a:xfrm>
          <a:prstGeom prst="roundRect">
            <a:avLst>
              <a:gd name="adj" fmla="val 1750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TO CURSOR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LaTeX file for my math homework: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‘Week 2 Homework’, my name, today’s date.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numbered problems about areas of circles,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the formula and the worked answer.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clean article style."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86600" y="1801368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976872" y="179222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163677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writes homework.tex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2542032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86600" y="2697480"/>
            <a:ext cx="402336" cy="40233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6976872" y="2688336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35240" y="25328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overleaf.com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3438144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3593592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976872" y="3584448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34290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Recompile → PDF appears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0" y="4334256"/>
            <a:ext cx="48006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4489704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976872" y="4480560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43251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real math book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2297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formulas in the prompt? </a:t>
            </a:r>
            <a:pPr indent="0" marL="0">
              <a:buNone/>
            </a:pP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them in words — AI knows the LaTeX for them.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· WE REALLY RAN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Run: Gradebook &amp; Homework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4348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pic>
        <p:nvPicPr>
          <p:cNvPr id="6" name="Image 0" descr="ex_grade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794760" cy="2862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2120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grades.xlsx — top scores really turned green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66360" y="1554480"/>
            <a:ext cx="2834640" cy="416052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pic>
        <p:nvPicPr>
          <p:cNvPr id="9" name="Image 1" descr="ex_hw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828800"/>
            <a:ext cx="2048256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55412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homework.pdf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183880" y="1554480"/>
            <a:ext cx="3456432" cy="416052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45820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notice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476488" y="2350008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0"/>
          <p:cNvSpPr/>
          <p:nvPr/>
        </p:nvSpPr>
        <p:spPr>
          <a:xfrm>
            <a:off x="8714232" y="228600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formulas — </a:t>
            </a:r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E2 really holds =AVERAGE(B2:D2) — edit a quiz score and it updates.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76488" y="3429000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2"/>
          <p:cNvSpPr/>
          <p:nvPr/>
        </p:nvSpPr>
        <p:spPr>
          <a:xfrm>
            <a:off x="8714232" y="3364992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highlights — </a:t>
            </a:r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Carla, Felix and Grace passed the &gt;9 test and turned green.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476488" y="4507992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8714232" y="4443984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— </a:t>
            </a:r>
            <a:pPr indent="0" marL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pdflatex homework.tex built the PDF — perfect math, zero clicking.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" y="5888736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this slide lives in examples/june-15-word-excel-latex/ in the class repo.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9" grpId="0"/>
      <p:bldP spid="2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for Paperwork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15,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file, the columns, the colors. Vague in → vague 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1396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5716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988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0076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sample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4004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3 example rows so AI matches your real format.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8472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42832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and check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open the file AI made. Trust, but verify.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step at a 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table, then the formulas, then the styling.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1396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5716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475988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0076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&amp; push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4004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scripts are code — save a version when they work.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12700" dir="5400000">
              <a:srgbClr val="B8C7D9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8472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42832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Errors? Paste them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script fails, give AI the error message — it will fix the code.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888736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loop: </a:t>
            </a:r>
            <a:pPr indent="0" marL="0">
              <a:buNone/>
            </a:pP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→ AI builds → open &amp; check → improve → commit.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5661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Paperwork is now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one-line prompt.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build a certificate generator for your class — Excel list in, Word files out.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Day 5  ·  June 15,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2026-06-11T06:38:10Z</dcterms:created>
  <dcterms:modified xsi:type="dcterms:W3CDTF">2026-06-11T06:38:10Z</dcterms:modified>
</cp:coreProperties>
</file>