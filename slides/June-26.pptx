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0" y="548640"/>
            <a:ext cx="3200400" cy="5852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0" b="0">
                <a:solidFill>
                  <a:srgbClr val="DCE6F0"/>
                </a:solidFill>
                <a:latin typeface="Arial Black"/>
              </a:rPr>
              <a:t>&lt;/&gt;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457200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rial"/>
              </a:rPr>
              <a:t>STEM INSTITUTE  ·  MODULE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>
                <a:solidFill>
                  <a:srgbClr val="0F2740"/>
                </a:solidFill>
                <a:latin typeface="Arial Black"/>
              </a:rPr>
              <a:t>How to Use AI Correctly</a:t>
            </a:r>
          </a:p>
          <a:p>
            <a:pPr algn="l"/>
            <a:r>
              <a:rPr sz="4000">
                <a:solidFill>
                  <a:srgbClr val="0F2740"/>
                </a:solidFill>
                <a:latin typeface="Arial Black"/>
              </a:rPr>
              <a:t>In a Real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6908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7566B"/>
                </a:solidFill>
                <a:latin typeface="Calibri"/>
              </a:rPr>
              <a:t>Prompts are easy — </a:t>
            </a:r>
            <a:r>
              <a:rPr sz="1700" b="1">
                <a:solidFill>
                  <a:srgbClr val="F97316"/>
                </a:solidFill>
                <a:latin typeface="Calibri"/>
              </a:rPr>
              <a:t>real projects</a:t>
            </a:r>
            <a:r>
              <a:rPr sz="1700" b="0">
                <a:solidFill>
                  <a:srgbClr val="47566B"/>
                </a:solidFill>
                <a:latin typeface="Calibri"/>
              </a:rPr>
              <a:t> need plans, tests, and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00600"/>
            <a:ext cx="30175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7566B"/>
                </a:solidFill>
                <a:latin typeface="Calibri"/>
              </a:rPr>
              <a:t>Day 9  —  June 26,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THE REALITY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How Do You Use AI Today?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45720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 rIns="355600" tIns="304800" wrap="square"/>
          <a:lstStyle/>
          <a:p>
            <a:pPr algn="ctr"/>
            <a:r>
              <a:rPr sz="1800" b="1">
                <a:solidFill>
                  <a:srgbClr val="0F2740"/>
                </a:solidFill>
                <a:latin typeface="Arial Black"/>
              </a:rPr>
              <a:t>The usual loop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47566B"/>
                </a:solidFill>
                <a:latin typeface="Calibri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284C7"/>
                </a:solidFill>
                <a:latin typeface="Calibri"/>
              </a:rPr>
              <a:t>1.  Write a simple prompt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284C7"/>
                </a:solidFill>
                <a:latin typeface="Calibri"/>
              </a:rPr>
              <a:t>2.  Run it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284C7"/>
                </a:solidFill>
                <a:latin typeface="Calibri"/>
              </a:rPr>
              <a:t>3.  Something breaks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284C7"/>
                </a:solidFill>
                <a:latin typeface="Calibri"/>
              </a:rPr>
              <a:t>4.  Patch with another prompt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284C7"/>
                </a:solidFill>
                <a:latin typeface="Calibri"/>
              </a:rPr>
              <a:t>5.  Repeat…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691640"/>
            <a:ext cx="6035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F2740"/>
                </a:solidFill>
                <a:latin typeface="Calibri"/>
              </a:rPr>
              <a:t>Most people never leave step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194560"/>
            <a:ext cx="6035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50" b="0">
                <a:solidFill>
                  <a:srgbClr val="47566B"/>
                </a:solidFill>
                <a:latin typeface="Calibri"/>
              </a:rPr>
              <a:t>•  That workflow delivers a quick demo — not a real engineering project.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47566B"/>
                </a:solidFill>
                <a:latin typeface="Calibri"/>
              </a:rPr>
              <a:t>•  Complex systems have many modules and tangled dependencies.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47566B"/>
                </a:solidFill>
                <a:latin typeface="Calibri"/>
              </a:rPr>
              <a:t>•  Change one part without a plan → fix east, break west.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47566B"/>
                </a:solidFill>
                <a:latin typeface="Calibri"/>
              </a:rPr>
              <a:t>•  Prompts without design don't scale — they just move the bug around.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47566B"/>
                </a:solidFill>
                <a:latin typeface="Calibri"/>
              </a:rPr>
              <a:t>•  AI is getting stronger, but it still can't replace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A stronger model </a:t>
            </a:r>
            <a:r>
              <a:rPr sz="1250" b="0">
                <a:solidFill>
                  <a:srgbClr val="47566B"/>
                </a:solidFill>
                <a:latin typeface="Calibri"/>
              </a:rPr>
              <a:t>doesn't fix a missing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THE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Split by Dependencies, Not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Most people split work by feature: “modeling”, “UI”, “AI”…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Real projects need hierarchical task decomposition (HTD).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Split along dependency chains — what must exist before what.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Each layer answers a different question; none of them is “to-do list”.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39496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Feature split          Dependency split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─────────────          ────────────────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"Make a house"    →    Foundation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"Make AI"              → Wall mesh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"Make UI"              → Placement logic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                       → Door + window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                       → Roof snap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                       → Save/load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Features are labels. </a:t>
            </a:r>
            <a:r>
              <a:rPr sz="1250" b="0">
                <a:solidFill>
                  <a:srgbClr val="47566B"/>
                </a:solidFill>
                <a:latin typeface="Calibri"/>
              </a:rPr>
              <a:t>Dependencies are the real plan.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LAYER 1 ·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One Sentence — Never More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111556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400" b="0">
                <a:solidFill>
                  <a:srgbClr val="E8F0F8"/>
                </a:solidFill>
                <a:latin typeface="Consolas"/>
              </a:rPr>
              <a:t>"After a plane crash, the player survives on an island — gather, build, craft, and finally sail away."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The whole project always fits in one sentence.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No sub-bullets. No feature list. No tech stack here.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Every later decision asks: does this serve the sentence?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If you can't say it in one line, </a:t>
            </a:r>
            <a:r>
              <a:rPr sz="1250" b="0">
                <a:solidFill>
                  <a:srgbClr val="47566B"/>
                </a:solidFill>
                <a:latin typeface="Calibri"/>
              </a:rPr>
              <a:t>you don't have a vision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LAYER 2 · CORE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Gameplay Systems, Not Assets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45720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Explore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  ↓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Gather resources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  ↓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Craft tools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  ↓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Build shelter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  ↓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Unlock better resources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  ↓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Explore farther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600200"/>
            <a:ext cx="64922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97316"/>
                </a:solidFill>
                <a:latin typeface="Consolas"/>
              </a:rPr>
              <a:t>Game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├── World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├── Player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├── Building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├── Crafting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├── Survival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├── AI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├── UI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0284C7"/>
                </a:solidFill>
                <a:latin typeface="Consolas"/>
              </a:rPr>
              <a:t>└── 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Layer 2 is not “model a tree”. </a:t>
            </a:r>
            <a:r>
              <a:rPr sz="1250" b="0">
                <a:solidFill>
                  <a:srgbClr val="47566B"/>
                </a:solidFill>
                <a:latin typeface="Calibri"/>
              </a:rPr>
              <a:t>It’s the systems the loop needs.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LAYER 3 ·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Split Until the Piece Has a Name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000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97316"/>
                </a:solidFill>
                <a:latin typeface="Consolas"/>
              </a:rPr>
              <a:t>Building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Foundation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Floor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Wall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Window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Door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Roof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└── Decoration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F97316"/>
                </a:solidFill>
                <a:latin typeface="Consolas"/>
              </a:rPr>
              <a:t>Wall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3D Model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Material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Collision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Placement Logic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├── Health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0284C7"/>
                </a:solidFill>
                <a:latin typeface="Consolas"/>
              </a:rPr>
              <a:t>└── Destroy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0020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 b="0">
                <a:solidFill>
                  <a:srgbClr val="47566B"/>
                </a:solidFill>
                <a:latin typeface="Calibri"/>
              </a:rPr>
              <a:t>•  Pick one module from Layer 2 — then explode it.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47566B"/>
                </a:solidFill>
                <a:latin typeface="Calibri"/>
              </a:rPr>
              <a:t>•  “Building” is still too big to assign or test.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47566B"/>
                </a:solidFill>
                <a:latin typeface="Calibri"/>
              </a:rPr>
              <a:t>•  “Wall placement logic” is getting close.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47566B"/>
                </a:solidFill>
                <a:latin typeface="Calibri"/>
              </a:rPr>
              <a:t>•  Keep going until each leaf has one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Stop naming big nouns. </a:t>
            </a:r>
            <a:r>
              <a:rPr sz="1250" b="0">
                <a:solidFill>
                  <a:srgbClr val="47566B"/>
                </a:solidFill>
                <a:latin typeface="Calibri"/>
              </a:rPr>
              <a:t>Start naming shippable parts.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LAYER 4 ·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Small Enough to Finish in One Sitting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0000"/>
            <a:ext cx="51206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Wall Model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Cube mesh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UV unwrap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Wood texture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Normal map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AO bake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└── Export GLB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E8F0F8"/>
                </a:solidFill>
                <a:latin typeface="Consolas"/>
              </a:rPr>
              <a:t>Texture variants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Wood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Moss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├── Broken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284C7"/>
                </a:solidFill>
                <a:latin typeface="Consolas"/>
              </a:rPr>
              <a:t>└── Burned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600200"/>
            <a:ext cx="6126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0">
                <a:solidFill>
                  <a:srgbClr val="47566B"/>
                </a:solidFill>
                <a:latin typeface="Calibri"/>
              </a:rPr>
              <a:t>•  Airplane → exterior, wing, engine, cockpit, seats, doors…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47566B"/>
                </a:solidFill>
                <a:latin typeface="Calibri"/>
              </a:rPr>
              <a:t>•  Cockpit → dashboard, seat, glass, levers, buttons…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47566B"/>
                </a:solidFill>
                <a:latin typeface="Calibri"/>
              </a:rPr>
              <a:t>•  Dashboard → speed, fuel, altitude, warning lights.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47566B"/>
                </a:solidFill>
                <a:latin typeface="Calibri"/>
              </a:rPr>
              <a:t>•  House → foundation, walls, roof — not “house”.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47566B"/>
                </a:solidFill>
                <a:latin typeface="Calibri"/>
              </a:rPr>
              <a:t>•  Player → mesh, skeleton, animations, clothes, hair…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47566B"/>
                </a:solidFill>
                <a:latin typeface="Calibri"/>
              </a:rPr>
              <a:t>•  Deer AI → idle, eat, run, escape, death.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Rule of thumb: </a:t>
            </a:r>
            <a:r>
              <a:rPr sz="1250" b="0">
                <a:solidFill>
                  <a:srgbClr val="47566B"/>
                </a:solidFill>
                <a:latin typeface="Calibri"/>
              </a:rPr>
              <a:t>one model ≈ one focused hour.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THE PAYOFF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The Whole Game Is Lego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53949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House =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  Foundation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+ Wall + Wall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+ Door + Window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+ Roof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Plane =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  Body + Wing + Engine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+ Cockpit + Seat + Door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3949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Runtime ≠ design doc noun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You never “spawn House”.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You spawn parts with rules.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Each part: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  • loads alone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  • tests alone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E8F0F8"/>
                </a:solidFill>
                <a:latin typeface="Consolas"/>
              </a:rPr>
              <a:t>  • snaps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891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Studios ship worlds by composing verified pieces — not by hoping one giant task lands.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4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Independent parts + composition rules </a:t>
            </a:r>
            <a:r>
              <a:rPr sz="1250" b="0">
                <a:solidFill>
                  <a:srgbClr val="47566B"/>
                </a:solidFill>
                <a:latin typeface="Calibri"/>
              </a:rPr>
              <a:t>= a project that scales.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WHEN TO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The Stopping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One person can finish it in one focused session.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One clear deliverable: a model, anim, script, or material.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You can verify it without waiting on other new work.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66B"/>
                </a:solidFill>
                <a:latin typeface="Calibri"/>
              </a:rPr>
              <a:t>•  Typical sweet spot: 30 minutes to 4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03200" tIns="203200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❌  Build a house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□  Wall model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□  Door model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□  Window model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□  Wall placement script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□  Door open/close script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□  Roof snap script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Still too big? Split again.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E8F0F8"/>
                </a:solidFill>
                <a:latin typeface="Consolas"/>
              </a:rPr>
              <a:t>Small enough? Ship &amp;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If “wall model” takes days, </a:t>
            </a:r>
            <a:r>
              <a:rPr sz="1250" b="0">
                <a:solidFill>
                  <a:srgbClr val="47566B"/>
                </a:solidFill>
                <a:latin typeface="Calibri"/>
              </a:rPr>
              <a:t>UV and texture are separate tasks.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FOUR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One Framework for Any Object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5448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754880"/>
              </a:tblGrid>
              <a:tr h="7680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2740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2740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2740"/>
                          </a:solidFill>
                          <a:latin typeface="Arial"/>
                        </a:rPr>
                        <a:t>House example</a:t>
                      </a:r>
                    </a:p>
                  </a:txBody>
                  <a:tcPr/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284C7"/>
                          </a:solidFill>
                          <a:latin typeface="Calibri"/>
                        </a:rPr>
                        <a:t>Asset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What resources?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Wall/door/window meshes, materials, SFX</a:t>
                      </a:r>
                    </a:p>
                  </a:txBody>
                  <a:tcPr/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284C7"/>
                          </a:solidFill>
                          <a:latin typeface="Calibri"/>
                        </a:rPr>
                        <a:t>Behavior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What does it do?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Place, upgrade, take damage, demolish</a:t>
                      </a:r>
                    </a:p>
                  </a:txBody>
                  <a:tcPr/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284C7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What properties?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HP, material cost, size, insulation</a:t>
                      </a:r>
                    </a:p>
                  </a:txBody>
                  <a:tcPr/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284C7"/>
                          </a:solidFill>
                          <a:latin typeface="Calibri"/>
                        </a:rPr>
                        <a:t>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Who touches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566B"/>
                          </a:solidFill>
                          <a:latin typeface="Calibri"/>
                        </a:rPr>
                        <a:t>Player builds, NPC uses, weather, save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Systems → objects → assets &amp; behavior → </a:t>
            </a:r>
            <a:r>
              <a:rPr sz="1250" b="0">
                <a:solidFill>
                  <a:srgbClr val="47566B"/>
                </a:solidFill>
                <a:latin typeface="Calibri"/>
              </a:rPr>
              <a:t>tasks you can actually schedule.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0284C7"/>
                </a:solidFill>
                <a:latin typeface="Arial"/>
              </a:rPr>
              <a:t>PUT IT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0F2740"/>
                </a:solidFill>
                <a:latin typeface="Arial Black"/>
              </a:rPr>
              <a:t>From Vision to a Task Tree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0000"/>
            <a:ext cx="457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000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0F2740"/>
                </a:solidFill>
                <a:latin typeface="Arial Black"/>
              </a:rPr>
              <a:t>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500000"/>
            <a:ext cx="755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47566B"/>
                </a:solidFill>
                <a:latin typeface="Calibri"/>
              </a:rPr>
              <a:t>One sentence. Never refine it into a spec.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0080"/>
            <a:ext cx="457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40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0F2740"/>
                </a:solidFill>
                <a:latin typeface="Arial Black"/>
              </a:rPr>
              <a:t>Core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140080"/>
            <a:ext cx="755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47566B"/>
                </a:solidFill>
                <a:latin typeface="Calibri"/>
              </a:rPr>
              <a:t>Explore → gather → craft → build → repeat.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80160"/>
            <a:ext cx="457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80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0F2740"/>
                </a:solidFill>
                <a:latin typeface="Arial Black"/>
              </a:rPr>
              <a:t>Systems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780160"/>
            <a:ext cx="755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47566B"/>
                </a:solidFill>
                <a:latin typeface="Calibri"/>
              </a:rPr>
              <a:t>World, Player, Building, Crafting, Survival, AI, UI, Save.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20240"/>
            <a:ext cx="457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20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0F2740"/>
                </a:solidFill>
                <a:latin typeface="Arial Black"/>
              </a:rPr>
              <a:t>Modules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420240"/>
            <a:ext cx="755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47566B"/>
                </a:solidFill>
                <a:latin typeface="Calibri"/>
              </a:rPr>
              <a:t>Building → Wall → mesh, material, collision, placement…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60320"/>
            <a:ext cx="457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603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0F2740"/>
                </a:solidFill>
                <a:latin typeface="Arial Black"/>
              </a:rPr>
              <a:t>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60320"/>
            <a:ext cx="755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47566B"/>
                </a:solidFill>
                <a:latin typeface="Calibri"/>
              </a:rPr>
              <a:t>Each leaf: one output, one test, one session.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0400"/>
            <a:ext cx="457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7004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0F2740"/>
                </a:solidFill>
                <a:latin typeface="Arial Black"/>
              </a:rPr>
              <a:t>Compose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700400"/>
            <a:ext cx="755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47566B"/>
                </a:solidFill>
                <a:latin typeface="Calibri"/>
              </a:rPr>
              <a:t>Foundation + walls + door + roof = house.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97316"/>
                </a:solidFill>
                <a:latin typeface="Calibri"/>
              </a:rPr>
              <a:t>This is how you use AI on a </a:t>
            </a:r>
            <a:r>
              <a:rPr sz="1250" b="0">
                <a:solidFill>
                  <a:srgbClr val="47566B"/>
                </a:solidFill>
                <a:latin typeface="Calibri"/>
              </a:rPr>
              <a:t>real project — give it a tree, not a wish.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