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548640"/>
            <a:ext cx="3200400" cy="5852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0" b="0">
                <a:solidFill>
                  <a:srgbClr val="DCE6F0"/>
                </a:solidFill>
                <a:latin typeface="Arial Black"/>
              </a:rPr>
              <a:t>&lt;/&gt;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27632"/>
            <a:ext cx="457200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Arial"/>
              </a:rPr>
              <a:t>STEM INSTITUTE  ·  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9601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>
                <a:solidFill>
                  <a:srgbClr val="0F2740"/>
                </a:solidFill>
                <a:latin typeface="Arial Black"/>
              </a:rPr>
              <a:t>How to Use AI Correctly</a:t>
            </a:r>
          </a:p>
          <a:p>
            <a:pPr algn="l"/>
            <a:r>
              <a:rPr sz="4000">
                <a:solidFill>
                  <a:srgbClr val="0F2740"/>
                </a:solidFill>
                <a:latin typeface="Arial Black"/>
              </a:rPr>
              <a:t>In a Real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690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47566B"/>
                </a:solidFill>
                <a:latin typeface="Calibri"/>
              </a:rPr>
              <a:t>Prompts are easy — </a:t>
            </a:r>
            <a:r>
              <a:rPr sz="1700" b="1">
                <a:solidFill>
                  <a:srgbClr val="F97316"/>
                </a:solidFill>
                <a:latin typeface="Calibri"/>
              </a:rPr>
              <a:t>real projects</a:t>
            </a:r>
            <a:r>
              <a:rPr sz="1700" b="0">
                <a:solidFill>
                  <a:srgbClr val="47566B"/>
                </a:solidFill>
                <a:latin typeface="Calibri"/>
              </a:rPr>
              <a:t> need plans, tests, and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800600"/>
            <a:ext cx="30175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7566B"/>
                </a:solidFill>
                <a:latin typeface="Calibri"/>
              </a:rPr>
              <a:t>Day 9  —  June 26,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FA3BC"/>
                </a:solidFill>
                <a:latin typeface="Calibri"/>
              </a:rPr>
              <a:t>Vibe Coding  ·  June 26,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FA3BC"/>
                </a:solidFill>
                <a:latin typeface="Calibri"/>
              </a:rPr>
              <a:t>Vibe Coding  ·  June 26,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284C7"/>
                </a:solidFill>
                <a:latin typeface="Arial"/>
              </a:rPr>
              <a:t>THE REALITY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0F2740"/>
                </a:solidFill>
                <a:latin typeface="Arial Black"/>
              </a:rPr>
              <a:t>How Do You Use AI Today?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45720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55600" rIns="355600" tIns="304800" wrap="square"/>
          <a:lstStyle/>
          <a:p>
            <a:pPr algn="ctr"/>
            <a:r>
              <a:rPr sz="1800" b="1">
                <a:solidFill>
                  <a:srgbClr val="0F2740"/>
                </a:solidFill>
                <a:latin typeface="Arial Black"/>
              </a:rPr>
              <a:t>The usual loop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47566B"/>
                </a:solidFill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284C7"/>
                </a:solidFill>
                <a:latin typeface="Calibri"/>
              </a:rPr>
              <a:t>1.  Write a simple prompt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284C7"/>
                </a:solidFill>
                <a:latin typeface="Calibri"/>
              </a:rPr>
              <a:t>2.  Run it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284C7"/>
                </a:solidFill>
                <a:latin typeface="Calibri"/>
              </a:rPr>
              <a:t>3.  Something breaks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284C7"/>
                </a:solidFill>
                <a:latin typeface="Calibri"/>
              </a:rPr>
              <a:t>4.  Patch with another prompt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284C7"/>
                </a:solidFill>
                <a:latin typeface="Calibri"/>
              </a:rPr>
              <a:t>5.  Repeat…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69164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740"/>
                </a:solidFill>
                <a:latin typeface="Calibri"/>
              </a:rPr>
              <a:t>Most people never leave step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194560"/>
            <a:ext cx="6035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50" b="0">
                <a:solidFill>
                  <a:srgbClr val="47566B"/>
                </a:solidFill>
                <a:latin typeface="Calibri"/>
              </a:rPr>
              <a:t>•  That workflow delivers a quick demo — not a real engineering project.</a:t>
            </a:r>
          </a:p>
          <a:p>
            <a:pPr>
              <a:spcBef>
                <a:spcPts val="1000"/>
              </a:spcBef>
            </a:pPr>
            <a:r>
              <a:rPr sz="1350" b="0">
                <a:solidFill>
                  <a:srgbClr val="47566B"/>
                </a:solidFill>
                <a:latin typeface="Calibri"/>
              </a:rPr>
              <a:t>•  Complex systems have many modules and tangled dependencies.</a:t>
            </a:r>
          </a:p>
          <a:p>
            <a:pPr>
              <a:spcBef>
                <a:spcPts val="1000"/>
              </a:spcBef>
            </a:pPr>
            <a:r>
              <a:rPr sz="1350" b="0">
                <a:solidFill>
                  <a:srgbClr val="47566B"/>
                </a:solidFill>
                <a:latin typeface="Calibri"/>
              </a:rPr>
              <a:t>•  Change one part without a plan → fix east, break west.</a:t>
            </a:r>
          </a:p>
          <a:p>
            <a:pPr>
              <a:spcBef>
                <a:spcPts val="1000"/>
              </a:spcBef>
            </a:pPr>
            <a:r>
              <a:rPr sz="1350" b="0">
                <a:solidFill>
                  <a:srgbClr val="47566B"/>
                </a:solidFill>
                <a:latin typeface="Calibri"/>
              </a:rPr>
              <a:t>•  Prompts without design don't scale — they just move the bug around.</a:t>
            </a:r>
          </a:p>
          <a:p>
            <a:pPr>
              <a:spcBef>
                <a:spcPts val="1000"/>
              </a:spcBef>
            </a:pPr>
            <a:r>
              <a:rPr sz="1350" b="0">
                <a:solidFill>
                  <a:srgbClr val="47566B"/>
                </a:solidFill>
                <a:latin typeface="Calibri"/>
              </a:rPr>
              <a:t>•  AI is getting stronger, but it still can't replace structure.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6692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97316"/>
                </a:solidFill>
                <a:latin typeface="Calibri"/>
              </a:rPr>
              <a:t>A stronger model </a:t>
            </a:r>
            <a:r>
              <a:rPr sz="1250" b="0">
                <a:solidFill>
                  <a:srgbClr val="47566B"/>
                </a:solidFill>
                <a:latin typeface="Calibri"/>
              </a:rPr>
              <a:t>doesn't fix a missing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