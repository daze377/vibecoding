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5869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9520" y="64008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0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</a:t>
            </a:r>
            <a:endParaRPr lang="en-US" sz="130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399032"/>
            <a:ext cx="74980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∑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1248" y="2240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4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STEM INSTITUTE  ·  MODULE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Analysis &amp;</a:t>
            </a:r>
            <a:endParaRPr lang="en-US" sz="4700" dirty="0"/>
          </a:p>
        </p:txBody>
      </p:sp>
      <p:sp>
        <p:nvSpPr>
          <p:cNvPr id="7" name="Text 5"/>
          <p:cNvSpPr/>
          <p:nvPr/>
        </p:nvSpPr>
        <p:spPr>
          <a:xfrm>
            <a:off x="777240" y="3456432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7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</a:t>
            </a:r>
            <a:endParaRPr lang="en-US" sz="4700" dirty="0"/>
          </a:p>
        </p:txBody>
      </p:sp>
      <p:sp>
        <p:nvSpPr>
          <p:cNvPr id="8" name="Text 6"/>
          <p:cNvSpPr/>
          <p:nvPr/>
        </p:nvSpPr>
        <p:spPr>
          <a:xfrm>
            <a:off x="841248" y="45262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· Make data talk — with pandas, charts and a first ML model.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41248" y="5257800"/>
            <a:ext cx="1005840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41248" y="5413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Day 6  —  June 16,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TODAY'S PLAN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Numbers to Answers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 all day: the Titanic passenger list — 891 real people, real facts.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68680" y="2377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3591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50392" y="35844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the data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68680" y="4069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it with pandas and ask questions: who? how many? what average?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11396" y="201168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31436" y="2377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39996" y="23591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▲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31436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3148" y="35844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Draw charts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631436" y="4069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answers into pictures everyone understands in 3 seconds.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074152" y="2011680"/>
            <a:ext cx="3566160" cy="3291840"/>
          </a:xfrm>
          <a:prstGeom prst="roundRect">
            <a:avLst>
              <a:gd name="adj" fmla="val 1944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94192" y="237744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02752" y="23591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⚙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94192" y="32918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8FA3B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75904" y="358444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Teach the computer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394192" y="40690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small machine-learning model that makes predictions.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650992"/>
            <a:ext cx="11091672" cy="475488"/>
          </a:xfrm>
          <a:prstGeom prst="roundRect">
            <a:avLst>
              <a:gd name="adj" fmla="val 13462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31520" y="5641848"/>
            <a:ext cx="10725912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always: </a:t>
            </a: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describe what you want — Cursor writes the Python. Your job is to ask good questions.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Data Analysis?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 — the same loop every data detective runs, on every case.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2487168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04672" y="228600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226771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86384" y="294436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a question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786384" y="3520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"Did ticket class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survival?"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072384" y="3017520"/>
            <a:ext cx="274320" cy="27432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410712" y="2011680"/>
            <a:ext cx="2487168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66744" y="22860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75304" y="226771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≡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48456" y="294436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Get the data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648456" y="3520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table: one row per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passenger, facts in columns.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934456" y="3017520"/>
            <a:ext cx="274320" cy="27432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72784" y="2011680"/>
            <a:ext cx="2487168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28816" y="228600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37376" y="226771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∑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510528" y="294436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for patterns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10528" y="3520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Group, count, compare,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796528" y="3017520"/>
            <a:ext cx="274320" cy="274320"/>
          </a:xfrm>
          <a:prstGeom prst="rightArrow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34856" y="2011680"/>
            <a:ext cx="2487168" cy="2423160"/>
          </a:xfrm>
          <a:prstGeom prst="roundRect">
            <a:avLst>
              <a:gd name="adj" fmla="val 26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390888" y="228600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99448" y="2267712"/>
            <a:ext cx="685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372600" y="2944368"/>
            <a:ext cx="2103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Tell the answer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9372600" y="3520440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Numbers, charts and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short story.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11091672" cy="777240"/>
          </a:xfrm>
          <a:prstGeom prst="roundRect">
            <a:avLst>
              <a:gd name="adj" fmla="val 8235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5111496"/>
            <a:ext cx="10725912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is detective work: </a:t>
            </a:r>
            <a:r>
              <a:rPr lang="en-US" sz="13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holds the clues, the chart shows the evidence, and you tell the story. The computer does the counting — you do the thinking.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the Dataset: Titanic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row is a real passenger. Every column is one fact about them.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6949440" cy="914400"/>
        </p:xfrm>
        <a:graphic>
          <a:graphicData uri="http://schemas.openxmlformats.org/drawingml/2006/table">
            <a:tbl>
              <a:tblPr/>
              <a:tblGrid>
                <a:gridCol w="1158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Name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Sex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Age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Class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Fare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 Black" pitchFamily="34" charset="0"/>
                          <a:ea typeface="Arial Black" pitchFamily="34" charset="-122"/>
                          <a:cs typeface="Arial Black" pitchFamily="34" charset="-120"/>
                        </a:rPr>
                        <a:t>Survived</a:t>
                      </a:r>
                      <a:endParaRPr lang="en-US" sz="1100" dirty="0">
                        <a:latin typeface="Arial Black" charset="0"/>
                        <a:ea typeface="Arial Black" charset="0"/>
                        <a:cs typeface="Arial Black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Braund, Owen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Cumings, Florence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Heikkinen, Laina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Allen, William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F27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4360" y="3977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6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 891 rows in total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863840" y="1783080"/>
            <a:ext cx="3794760" cy="3566160"/>
          </a:xfrm>
          <a:prstGeom prst="roundRect">
            <a:avLst>
              <a:gd name="adj" fmla="val 179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13816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dataset?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138160" y="2560320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375904" y="2487168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story from 1912 — every row was a real person.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8138160" y="3429000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375904" y="3355848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enough to understand, big enough to find patterns.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138160" y="4297680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375904" y="4224528"/>
            <a:ext cx="30632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 first dataset for every data scientist on Earth.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5669280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31520" y="5660136"/>
            <a:ext cx="10725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 of the day: </a:t>
            </a: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decided who survived — luck, money, age, or sex?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Helper: pandas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0F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explore.py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5778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
</a:t>
            </a:r>
            <a:r>
              <a:rPr lang="en-US" sz="14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load the table from a file
</a:t>
            </a:r>
            <a:r>
              <a:rPr lang="en-US" sz="14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pd.read_csv("titanic.csv")
</a:t>
            </a: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      # peek: first 5 rows
</a:t>
            </a:r>
            <a:r>
              <a:rPr lang="en-US" sz="14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       # (891, 12) rows, cols
df.describe()  # min, max, average...
</a:t>
            </a:r>
            <a:r>
              <a:rPr lang="en-US" sz="14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 question, one line:
</a:t>
            </a: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df["Age"].mean()   # average age: 29.7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48006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0" y="17830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pandas = Excel for Python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68896" y="2350008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6640" y="22860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data file into a table called a DataFrame.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68896" y="3191256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0" y="312724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 / shape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peek first — know what you are working with.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68896" y="4032504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3968496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statistics for every number column.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68896" y="4873752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6640" y="4809744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df["Age"].mean()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column, ask it a question.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#1 of data work: </a:t>
            </a: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look at the data before you analyze it.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 the Data a Question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0F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4048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questions.py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57784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88"/>
              </a:lnSpc>
              <a:buNone/>
            </a:pPr>
            <a:r>
              <a:rPr lang="en-US" sz="14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Did ticket class change survival?
</a:t>
            </a: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df.groupby("Class")["Survived"].mean()
</a:t>
            </a:r>
            <a:r>
              <a:rPr lang="en-US" sz="14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
</a:t>
            </a: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1st    0.63   &lt;- 63% survived
2nd    0.47
3rd    0.24   &lt;- only 24%
</a:t>
            </a:r>
            <a:r>
              <a:rPr lang="en-US" sz="14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4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And by sex?
</a:t>
            </a:r>
            <a:r>
              <a:rPr lang="en-US" sz="14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df.groupby("Sex")["Survived"].mean()
</a:t>
            </a:r>
            <a:r>
              <a:rPr lang="en-US" sz="14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female 0.74    male 0.19
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0" y="1554480"/>
            <a:ext cx="480060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132320" y="17830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groupby = "split into teams"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168896" y="2350008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06640" y="2286000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groupby("Class")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passengers into 1st / 2nd / 3rd teams.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168896" y="3191256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06640" y="3127248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["Survived"]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at one column for each team.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168896" y="4032504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06640" y="3968496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.mean()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averages it — for 0/1 data that IS the survival rate.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168896" y="4873752"/>
            <a:ext cx="118872" cy="118872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406640" y="4809744"/>
            <a:ext cx="41148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One line of code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a question historians wrote books about.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vibe way: </a:t>
            </a: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ask Cursor — "what % survived in each class?" — and it writes this for you.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1 ·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 Before You Analyze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66928" y="129844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is messy. Garbage in → garbage out.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9496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1031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208483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20756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Missing values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508760" y="260604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passengers have no age! Drop them, or fill with the average — your choice, but decide.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39496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92240" y="21031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0" y="208483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78040" y="20756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Wrong types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178040" y="260604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"22" as text can’t be averaged. Numbers must be numbers, dates must be dates.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539496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" y="3931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391363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≠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508760" y="39044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Weird values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508760" y="443484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 of 230? A fare of -5? Find outliers and check if they are typos.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657600"/>
            <a:ext cx="5394960" cy="164592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492240" y="39319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00800" y="3913632"/>
            <a:ext cx="658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178040" y="39044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Duplicates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178040" y="4434840"/>
            <a:ext cx="41605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row twice counts twice. Find and remove repeats.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5715000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31520" y="5705856"/>
            <a:ext cx="10725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r>
              <a:rPr lang="en-US" sz="12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"Check titanic.csv for missing values, weird numbers and duplicates — fix them and explain what you did."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· CHARTS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Which Chart for Which Question?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615184" cy="34290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201168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61288" y="2011680"/>
            <a:ext cx="201168" cy="7315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53896" y="2423160"/>
            <a:ext cx="201168" cy="3200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4564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EA5E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 groups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22960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"Which class survived most?"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77154" y="1691640"/>
            <a:ext cx="2615184" cy="34290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697194" y="2514600"/>
            <a:ext cx="41148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08674" y="2194560"/>
            <a:ext cx="411480" cy="41148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20154" y="2606040"/>
            <a:ext cx="182880" cy="0"/>
          </a:xfrm>
          <a:prstGeom prst="line">
            <a:avLst/>
          </a:prstGeom>
          <a:noFill/>
          <a:ln w="3175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51474" y="3017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Line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1474" y="34564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973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Change over time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51474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did the temperature change this week?"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05667" y="1691640"/>
            <a:ext cx="2615184" cy="34290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525707" y="2560320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754307" y="2423160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82907" y="2468880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165787" y="2240280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48667" y="2103120"/>
            <a:ext cx="118872" cy="118872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79987" y="3017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Scatter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79987" y="34564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Are two things linked?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79987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 taller students have bigger feet?"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9034181" y="1691640"/>
            <a:ext cx="2615184" cy="34290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491381" y="2011680"/>
            <a:ext cx="731520" cy="73152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857141" y="2377440"/>
            <a:ext cx="36576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9857141" y="2377440"/>
            <a:ext cx="109728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9308501" y="301752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Pie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08501" y="345643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Parts of a whole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9308501" y="3886200"/>
            <a:ext cx="2148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share of passengers was in 3rd class?"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48640" y="548640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5477256"/>
            <a:ext cx="107259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Cursor the question, not the chart: </a:t>
            </a: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will usually pick the right one — but now you can check it.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· CHARTS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Code to Chart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86400" cy="3931920"/>
          </a:xfrm>
          <a:prstGeom prst="roundRect">
            <a:avLst>
              <a:gd name="adj" fmla="val 1860"/>
            </a:avLst>
          </a:prstGeom>
          <a:solidFill>
            <a:srgbClr val="0F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73736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73736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5568" y="173736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167335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84248"/>
            <a:ext cx="5029200" cy="3429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matplotlib.pyplot as plt
</a:t>
            </a: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rate = df.groupby("Class")
         ["Survived"].mean() * 100
</a:t>
            </a: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rate.plot(kind="bar",
          color=["#0EA5E9",
                 "#0284C7","#F97316"])
</a:t>
            </a: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plt.ylabel("survived (%)")
</a:t>
            </a: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plt.savefig("by_class.png")
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0" y="1600200"/>
            <a:ext cx="5257800" cy="3931920"/>
          </a:xfrm>
          <a:prstGeom prst="roundRect">
            <a:avLst>
              <a:gd name="adj" fmla="val 162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chart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874520"/>
            <a:ext cx="4617720" cy="30175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720840" y="4983480"/>
            <a:ext cx="4617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by_class.png — made by the code on the left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31520" y="5797296"/>
            <a:ext cx="10725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savefig </a:t>
            </a:r>
            <a:r>
              <a:rPr lang="en-US" sz="12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a real image file — drop it into your report, slides or website.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2 · CHARTS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Chart Answers in 3 Seconds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98932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chart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5394960" cy="35204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1645920"/>
            <a:ext cx="4846320" cy="3977640"/>
          </a:xfrm>
          <a:prstGeom prst="roundRect">
            <a:avLst>
              <a:gd name="adj" fmla="val 160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chart_sex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920240"/>
            <a:ext cx="4114800" cy="352044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48640" y="5806440"/>
            <a:ext cx="11091672" cy="457200"/>
          </a:xfrm>
          <a:prstGeom prst="roundRect">
            <a:avLst>
              <a:gd name="adj" fmla="val 14000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31520" y="5797296"/>
            <a:ext cx="1072591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story the data tells: </a:t>
            </a: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"women and children first" was real — and so was the unfair gap between ticket classes.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 animBg="1"/>
      <p:bldP spid="8" grpId="0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MACHINE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 Machine Learning?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1109167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Normal programming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2322576"/>
            <a:ext cx="3108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(written by you)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80560" y="23317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480560" y="2322576"/>
            <a:ext cx="3108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Data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0" y="233172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046720" y="2322576"/>
            <a:ext cx="3108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Answers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11091672" cy="1783080"/>
          </a:xfrm>
          <a:prstGeom prst="roundRect">
            <a:avLst>
              <a:gd name="adj" fmla="val 3590"/>
            </a:avLst>
          </a:prstGeom>
          <a:solidFill>
            <a:srgbClr val="FFFFFF"/>
          </a:solidFill>
          <a:ln w="12700">
            <a:solidFill>
              <a:srgbClr val="F9C9A3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38404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Machine learning — flipped!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434340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4334256"/>
            <a:ext cx="3108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480560" y="434340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480560" y="4334256"/>
            <a:ext cx="3108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Answers (examples)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4343400"/>
            <a:ext cx="3108960" cy="777240"/>
          </a:xfrm>
          <a:prstGeom prst="roundRect">
            <a:avLst>
              <a:gd name="adj" fmla="val 9412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46720" y="4334256"/>
            <a:ext cx="3108960" cy="795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Rules (found by the computer)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576072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751576"/>
            <a:ext cx="107259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case: </a:t>
            </a: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computer 891 passengers and who survived — it finds the pattern by itself.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MACHINE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 on Some, Test on the Rest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822960" y="2331720"/>
            <a:ext cx="8302752" cy="100584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62872" y="2331720"/>
            <a:ext cx="2075688" cy="1005840"/>
          </a:xfrm>
          <a:prstGeom prst="roundRect">
            <a:avLst>
              <a:gd name="adj" fmla="val 9091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2313432"/>
            <a:ext cx="830275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 — 80% of passengers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262872" y="2313432"/>
            <a:ext cx="2075688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— 20%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8302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learns from these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778240" y="34290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hidden until the exam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2960" y="4206240"/>
            <a:ext cx="10515600" cy="1463040"/>
          </a:xfrm>
          <a:prstGeom prst="roundRect">
            <a:avLst>
              <a:gd name="adj" fmla="val 4375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97280" y="4389120"/>
            <a:ext cx="99669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hide some data?  </a:t>
            </a:r>
            <a:r>
              <a:rPr lang="en-US" sz="13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practicing a quiz, then being graded on the exact same quiz — of course you ace it! A model must be tested on questions it has </a:t>
            </a:r>
            <a:r>
              <a:rPr lang="en-US" sz="13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seen</a:t>
            </a:r>
            <a:r>
              <a:rPr lang="en-US" sz="135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prove it really learned the pattern, not just memorized the answers.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MACHINE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 Your First Model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0F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852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46"/>
              </a:lnSpc>
              <a:buNone/>
            </a:pPr>
            <a:r>
              <a:rPr lang="en-US" sz="13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sklearn.tree import DecisionTreeClassifier
from sklearn.model_selection import train_test_split
</a:t>
            </a: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3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(Sex was converted to 0/1 first)
</a:t>
            </a:r>
            <a:r>
              <a:rPr lang="en-US" sz="130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df[["Class", "Sex", "Age", "Fare"]]
y = df["Survived"]
X_tr, X_te, y_tr, y_te = train_test_split(
    X, y, test_size=0.2)
model = DecisionTreeClassifier(max_depth=3)
</a:t>
            </a:r>
            <a:r>
              <a:rPr lang="en-US" sz="130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model.fit(X_tr, y_tr)        # learn!
</a:t>
            </a:r>
            <a:r>
              <a:rPr lang="en-US" sz="130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model.score(X_te, y_te)      # 0.80
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132320" y="1554480"/>
            <a:ext cx="45262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406640" y="17830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just happened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24928" y="2350008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62672" y="2286000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the clues  </a:t>
            </a: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class, sex, age, fare — what the model may look at.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24928" y="3191256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662672" y="3127248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the answer  </a:t>
            </a: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survived or not — what it must predict.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424928" y="4032504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662672" y="3968496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fit()  </a:t>
            </a: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studies the training passengers.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24928" y="4873752"/>
            <a:ext cx="118872" cy="118872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662672" y="4809744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score() = 0.80  </a:t>
            </a: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predicts 80% of unseen passengers correctly!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decision tree </a:t>
            </a: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just a flowchart of yes/no questions the computer invented — ask Cursor to draw it!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PART 3 · MACHINE LEARNING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Good Is the Model?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749040" cy="347472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accuracy on the test set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guessed right for 8 of every 10 passengers it had never seen.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26280" y="1691640"/>
            <a:ext cx="7132320" cy="3474720"/>
          </a:xfrm>
          <a:prstGeom prst="roundRect">
            <a:avLst>
              <a:gd name="adj" fmla="val 184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Always ask these questions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800600" y="24231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0016" y="2414016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49240" y="237744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Better than guessing?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saying "died" is already 62% right. 80% beats it — good.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800600" y="331927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0016" y="3310128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3273552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does it get wrong?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passengers fool the model? Look at the mistakes.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00600" y="421538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0016" y="4206240"/>
            <a:ext cx="594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349240" y="4169664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Would it work on new data?  </a:t>
            </a:r>
            <a:r>
              <a:rPr lang="en-US" sz="12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memorizes will fail on a different ship.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57784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5568696"/>
            <a:ext cx="10725912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a number alone: </a:t>
            </a:r>
            <a:r>
              <a:rPr lang="en-US" sz="13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score can still hide silly mistakes. Stay the detective.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EA580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CASE STUDY · WE REALLY RAN IT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Run: 891 Passengers, One Script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309360" cy="4114800"/>
          </a:xfrm>
          <a:prstGeom prst="roundRect">
            <a:avLst>
              <a:gd name="adj" fmla="val 1778"/>
            </a:avLst>
          </a:prstGeom>
          <a:solidFill>
            <a:srgbClr val="0F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1691640"/>
            <a:ext cx="100584" cy="100584"/>
          </a:xfrm>
          <a:prstGeom prst="ellipse">
            <a:avLst/>
          </a:prstGeom>
          <a:solidFill>
            <a:srgbClr val="E2433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14400" y="1691640"/>
            <a:ext cx="100584" cy="100584"/>
          </a:xfrm>
          <a:prstGeom prst="ellipse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115568" y="1691640"/>
            <a:ext cx="100584" cy="100584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0" y="1627632"/>
            <a:ext cx="2606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output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938528"/>
            <a:ext cx="5852160" cy="3611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75"/>
              </a:lnSpc>
              <a:buNone/>
            </a:pPr>
            <a:r>
              <a:rPr lang="en-US" sz="12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analyze_titanic.py
</a:t>
            </a: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shape: (891, 12)
survival by class (%):
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1    63.0   2    47.3   3    24.2
</a:t>
            </a: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survival by sex (%):
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female 74.2        male 18.9
</a:t>
            </a: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r>
              <a:rPr lang="en-US" sz="1250" dirty="0">
                <a:solidFill>
                  <a:srgbClr val="FDBA7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missing ages: 177
</a:t>
            </a:r>
            <a:r>
              <a:rPr lang="en-US" sz="1250" dirty="0">
                <a:solidFill>
                  <a:srgbClr val="DCE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 saved: by_class.png, by_sex.png, ...
</a:t>
            </a:r>
            <a:r>
              <a:rPr lang="en-US" sz="1250" dirty="0">
                <a:solidFill>
                  <a:srgbClr val="86EFA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accuracy: 0.80  (baseline 0.59)
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132320" y="1554480"/>
            <a:ext cx="4526280" cy="4114800"/>
          </a:xfrm>
          <a:prstGeom prst="roundRect">
            <a:avLst>
              <a:gd name="adj" fmla="val 155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0" descr="ex16_ag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828800"/>
            <a:ext cx="3886200" cy="264261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269480" y="4526280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ages.png — made by the same run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406640" y="489204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today's slides </a:t>
            </a:r>
            <a:r>
              <a:rPr lang="en-US" sz="1150" b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from this run</a:t>
            </a:r>
            <a:r>
              <a:rPr lang="en-US" sz="115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63/47/24, 74/19, 177 missing ages, 80%.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yourself: </a:t>
            </a: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examples/june-16-data-analysis-ml/ — titanic.csv and the script are in the class repo.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/>
      <p:bldP spid="13" grpId="0" animBg="1"/>
      <p:bldP spid="14" grpId="0" animBg="1"/>
      <p:bldP spid="15" grpId="0" animBg="1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PUT IT ALL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Kickoff Prompt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6766560" cy="4160520"/>
          </a:xfrm>
          <a:prstGeom prst="roundRect">
            <a:avLst>
              <a:gd name="adj" fmla="val 1538"/>
            </a:avLst>
          </a:prstGeom>
          <a:solidFill>
            <a:srgbClr val="E6F2FB"/>
          </a:solidFill>
          <a:ln w="12700">
            <a:solidFill>
              <a:srgbClr val="BBD9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PROMPT TO CURSOR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21408"/>
            <a:ext cx="62179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"Analyze titanic.csv step by step: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it and describe what’s inside.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Clean it — handle missing ages, explain your choices.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Make 3 charts: survival by class, by sex, and an age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histogram. Save them as PNG files.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Train a decision tree to predict survival,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test on 20% held-out data, report the accuracy.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Write report.md with the charts and what we learned.</a:t>
            </a:r>
            <a:endParaRPr lang="en-US" sz="1350" dirty="0"/>
          </a:p>
          <a:p>
            <a:pPr marL="0" indent="0">
              <a:buNone/>
            </a:pPr>
            <a:r>
              <a:rPr lang="en-US" sz="1350" i="1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after each step."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40233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863840" y="1746504"/>
            <a:ext cx="384048" cy="384048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54112" y="1737360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0" y="1591056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Explore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35240" y="2441448"/>
            <a:ext cx="40233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863840" y="2587752"/>
            <a:ext cx="384048" cy="384048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54112" y="2578608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2432304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35240" y="3282696"/>
            <a:ext cx="40233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863840" y="3429000"/>
            <a:ext cx="384048" cy="384048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54112" y="3419856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0" y="3273552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35240" y="4123944"/>
            <a:ext cx="40233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863840" y="4270248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54112" y="4261104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12480" y="4114800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35240" y="4965192"/>
            <a:ext cx="4023360" cy="676656"/>
          </a:xfrm>
          <a:prstGeom prst="roundRect">
            <a:avLst>
              <a:gd name="adj" fmla="val 9459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863840" y="5111496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54112" y="5102352"/>
            <a:ext cx="60350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12480" y="4956048"/>
            <a:ext cx="31089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870448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31520" y="5861304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steps = better results. </a:t>
            </a: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follows your plan instead of inventing its own.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1155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Detective Rules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64556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June 16, 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19476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9385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9110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first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2587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head(), shape, describe() — before any analysis.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11396" y="16916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85716" y="19476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75988" y="19385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80076" y="19110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Clean first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04004" y="2587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and weird values poison every result downstream.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74152" y="169164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48472" y="194767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38744" y="193852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42832" y="191109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Chart everything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66760" y="258775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eyes find patterns that numbers hide.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794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40507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3232" y="40416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4014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simple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41248" y="46908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decision tree before any fancy model.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11396" y="3794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585716" y="40507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475988" y="40416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80076" y="4014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Test on unseen data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604004" y="46908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grade the model on its own practice questions.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74152" y="3794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blurRad="76200" dist="12700" dir="5400000" algn="bl" rotWithShape="0">
              <a:srgbClr val="B8C7D9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348472" y="4050792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38744" y="4041648"/>
            <a:ext cx="640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42832" y="401421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Commit each step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366760" y="4690872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→ clean → chart → model: one commit each.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48640" y="5897880"/>
            <a:ext cx="11091672" cy="411480"/>
          </a:xfrm>
          <a:prstGeom prst="roundRect">
            <a:avLst>
              <a:gd name="adj" fmla="val 15556"/>
            </a:avLst>
          </a:prstGeom>
          <a:solidFill>
            <a:srgbClr val="FFF3E8"/>
          </a:solidFill>
          <a:ln w="12700">
            <a:solidFill>
              <a:srgbClr val="F9C9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31520" y="5888736"/>
            <a:ext cx="10725912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loop: </a:t>
            </a:r>
            <a:r>
              <a:rPr lang="en-US" sz="1200" dirty="0">
                <a:solidFill>
                  <a:srgbClr val="0F2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data → chart → answer → next question.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0" y="3566160"/>
            <a:ext cx="40233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0" dirty="0">
                <a:solidFill>
                  <a:srgbClr val="E2E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%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F27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has stories.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dirty="0">
                <a:solidFill>
                  <a:srgbClr val="0284C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 you can read them.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68680" y="39319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4756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Practice: find a dataset you care about — games, sports, music — and interview it.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 ·  Day 6  ·  June 16,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2081</Words>
  <Application>Microsoft Macintosh PowerPoint</Application>
  <PresentationFormat>Widescreen</PresentationFormat>
  <Paragraphs>273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Arial Black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Daze Lu</cp:lastModifiedBy>
  <cp:revision>2</cp:revision>
  <dcterms:created xsi:type="dcterms:W3CDTF">2026-06-11T06:38:10Z</dcterms:created>
  <dcterms:modified xsi:type="dcterms:W3CDTF">2026-06-18T07:57:56Z</dcterms:modified>
</cp:coreProperties>
</file>