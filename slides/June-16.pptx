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0" y="64008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0" dirty="0">
                <a:solidFill>
                  <a:srgbClr val="E2EE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EA5E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99032"/>
            <a:ext cx="7498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∑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41248" y="22402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STEM INSTITUTE  ·  MODULE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7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Analysis &amp;</a:t>
            </a:r>
            <a:endParaRPr lang="en-US" sz="4700" dirty="0"/>
          </a:p>
        </p:txBody>
      </p:sp>
      <p:sp>
        <p:nvSpPr>
          <p:cNvPr id="7" name="Text 5"/>
          <p:cNvSpPr/>
          <p:nvPr/>
        </p:nvSpPr>
        <p:spPr>
          <a:xfrm>
            <a:off x="777240" y="3456432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70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Machine Learning</a:t>
            </a:r>
            <a:endParaRPr lang="en-US" sz="4700" dirty="0"/>
          </a:p>
        </p:txBody>
      </p:sp>
      <p:sp>
        <p:nvSpPr>
          <p:cNvPr id="8" name="Text 6"/>
          <p:cNvSpPr/>
          <p:nvPr/>
        </p:nvSpPr>
        <p:spPr>
          <a:xfrm>
            <a:off x="841248" y="45262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Make data talk — with pandas, charts and a first ML model.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41248" y="5257800"/>
            <a:ext cx="100584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54132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Day 6  —  June 16,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TODAY'S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Numbers to Answers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 all day: the Titanic passenger list — 891 real people, real facts.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37744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35915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32918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FA3B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50392" y="3584448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Ask the data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68680" y="40690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it with pandas and ask questions: who? how many? what average?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11396" y="2011680"/>
            <a:ext cx="356616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31436" y="237744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39996" y="235915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31436" y="32918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FA3B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13148" y="3584448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Draw charts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631436" y="40690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answers into pictures everyone understands in 3 seconds.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74152" y="2011680"/>
            <a:ext cx="356616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94192" y="237744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284C7"/>
          </a:solidFill>
          <a:ln/>
        </p:spPr>
      </p:sp>
      <p:sp>
        <p:nvSpPr>
          <p:cNvPr id="20" name="Text 18"/>
          <p:cNvSpPr/>
          <p:nvPr/>
        </p:nvSpPr>
        <p:spPr>
          <a:xfrm>
            <a:off x="8302752" y="235915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⚙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4192" y="32918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FA3B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75904" y="3584448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Teach the computer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394192" y="40690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small machine-learning model that makes predictions.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650992"/>
            <a:ext cx="11091672" cy="475488"/>
          </a:xfrm>
          <a:prstGeom prst="roundRect">
            <a:avLst>
              <a:gd name="adj" fmla="val 13462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41848"/>
            <a:ext cx="107259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always: </a:t>
            </a:r>
            <a:pPr indent="0" marL="0">
              <a:buNone/>
            </a:pPr>
            <a:r>
              <a:rPr lang="en-US" sz="125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 what you want — Cursor writes the Python. Your job is to ask good questions.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 ·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Data Analysis?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 — the same loop every data detective runs, on every case.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487168" cy="2423160"/>
          </a:xfrm>
          <a:prstGeom prst="roundRect">
            <a:avLst>
              <a:gd name="adj" fmla="val 264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286000"/>
            <a:ext cx="502920" cy="5029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2267712"/>
            <a:ext cx="685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" y="2944368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Ask a question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86384" y="35204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"Did ticket class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survival?"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74320" cy="274320"/>
          </a:xfrm>
          <a:prstGeom prst="rightArrow">
            <a:avLst/>
          </a:prstGeom>
          <a:solidFill>
            <a:srgbClr val="0EA5E9"/>
          </a:solidFill>
          <a:ln/>
        </p:spPr>
      </p:sp>
      <p:sp>
        <p:nvSpPr>
          <p:cNvPr id="12" name="Shape 10"/>
          <p:cNvSpPr/>
          <p:nvPr/>
        </p:nvSpPr>
        <p:spPr>
          <a:xfrm>
            <a:off x="3410712" y="2011680"/>
            <a:ext cx="2487168" cy="2423160"/>
          </a:xfrm>
          <a:prstGeom prst="roundRect">
            <a:avLst>
              <a:gd name="adj" fmla="val 264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66744" y="2286000"/>
            <a:ext cx="502920" cy="50292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4" name="Text 12"/>
          <p:cNvSpPr/>
          <p:nvPr/>
        </p:nvSpPr>
        <p:spPr>
          <a:xfrm>
            <a:off x="3575304" y="2267712"/>
            <a:ext cx="685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48456" y="2944368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 the data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48456" y="35204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table: one row per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passenger, facts in columns.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34456" y="3017520"/>
            <a:ext cx="274320" cy="274320"/>
          </a:xfrm>
          <a:prstGeom prst="rightArrow">
            <a:avLst/>
          </a:prstGeom>
          <a:solidFill>
            <a:srgbClr val="0EA5E9"/>
          </a:solidFill>
          <a:ln/>
        </p:spPr>
      </p:sp>
      <p:sp>
        <p:nvSpPr>
          <p:cNvPr id="18" name="Shape 16"/>
          <p:cNvSpPr/>
          <p:nvPr/>
        </p:nvSpPr>
        <p:spPr>
          <a:xfrm>
            <a:off x="6272784" y="2011680"/>
            <a:ext cx="2487168" cy="2423160"/>
          </a:xfrm>
          <a:prstGeom prst="roundRect">
            <a:avLst>
              <a:gd name="adj" fmla="val 264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28816" y="2286000"/>
            <a:ext cx="502920" cy="5029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6437376" y="2267712"/>
            <a:ext cx="685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∑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0528" y="2944368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Look for patterns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5204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Group, count, compare,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796528" y="3017520"/>
            <a:ext cx="274320" cy="274320"/>
          </a:xfrm>
          <a:prstGeom prst="rightArrow">
            <a:avLst/>
          </a:prstGeom>
          <a:solidFill>
            <a:srgbClr val="0EA5E9"/>
          </a:solidFill>
          <a:ln/>
        </p:spPr>
      </p:sp>
      <p:sp>
        <p:nvSpPr>
          <p:cNvPr id="24" name="Shape 22"/>
          <p:cNvSpPr/>
          <p:nvPr/>
        </p:nvSpPr>
        <p:spPr>
          <a:xfrm>
            <a:off x="9134856" y="2011680"/>
            <a:ext cx="2487168" cy="2423160"/>
          </a:xfrm>
          <a:prstGeom prst="roundRect">
            <a:avLst>
              <a:gd name="adj" fmla="val 264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390888" y="2286000"/>
            <a:ext cx="502920" cy="50292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9299448" y="2267712"/>
            <a:ext cx="685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372600" y="2944368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Tell the answer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372600" y="35204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charts and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story.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8235"/>
            </a:avLst>
          </a:prstGeom>
          <a:solidFill>
            <a:srgbClr val="E6F2FB"/>
          </a:solidFill>
          <a:ln w="12700">
            <a:solidFill>
              <a:srgbClr val="BBD9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111496"/>
            <a:ext cx="1072591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is detective work: </a:t>
            </a:r>
            <a:pPr indent="0" marL="0">
              <a:buNone/>
            </a:pPr>
            <a:r>
              <a:rPr lang="en-US" sz="135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holds the clues, the chart shows the evidence, and you tell the story. The computer does the counting — you do the thinking.</a:t>
            </a:r>
            <a:endParaRPr lang="en-US" sz="13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4.xml><?xml version="1.0" encoding="utf-8"?>
<p:sld xmlns:a="http://schemas.openxmlformats.org/drawingml/2006/main" xmlns:ns2="http://schemas.microsoft.com/office/powerpoint/2010/main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 ·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Meet the Dataset: Titanic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a real passenger. Every column is one fact about them.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48640" y="1874520"/>
          <a:ext cx="6949440" cy="914400"/>
        </p:xfrm>
        <a:graphic>
          <a:graphicData uri="http://schemas.openxmlformats.org/drawingml/2006/table">
            <a:tbl>
              <a:tblPr/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Name</a:t>
                      </a:r>
                      <a:endParaRPr lang="en-US" sz="11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Sex</a:t>
                      </a:r>
                      <a:endParaRPr lang="en-US" sz="11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Age</a:t>
                      </a:r>
                      <a:endParaRPr lang="en-US" sz="11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Class</a:t>
                      </a:r>
                      <a:endParaRPr lang="en-US" sz="11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Fare</a:t>
                      </a:r>
                      <a:endParaRPr lang="en-US" sz="11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Survived</a:t>
                      </a:r>
                      <a:endParaRPr lang="en-US" sz="11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Braund, Owen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Cumings, Florence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female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Heikkinen, Laina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female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Allen, William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9436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6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891 rows in total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863840" y="1783080"/>
            <a:ext cx="379476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138160" y="2011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dataset?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138160" y="2560320"/>
            <a:ext cx="118872" cy="118872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1" name="Text 8"/>
          <p:cNvSpPr/>
          <p:nvPr/>
        </p:nvSpPr>
        <p:spPr>
          <a:xfrm>
            <a:off x="8375904" y="2487168"/>
            <a:ext cx="30632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true story from 1912 — every row was a real person.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38160" y="3429000"/>
            <a:ext cx="118872" cy="118872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3" name="Text 10"/>
          <p:cNvSpPr/>
          <p:nvPr/>
        </p:nvSpPr>
        <p:spPr>
          <a:xfrm>
            <a:off x="8375904" y="3355848"/>
            <a:ext cx="30632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to understand, big enough to find patterns.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138160" y="4297680"/>
            <a:ext cx="118872" cy="118872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5" name="Text 12"/>
          <p:cNvSpPr/>
          <p:nvPr/>
        </p:nvSpPr>
        <p:spPr>
          <a:xfrm>
            <a:off x="8375904" y="4224528"/>
            <a:ext cx="30632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first dataset for every data scientist on Earth.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5669280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5660136"/>
            <a:ext cx="10725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of the day: </a:t>
            </a:r>
            <a:pPr indent="0" marL="0">
              <a:buNone/>
            </a:pPr>
            <a:r>
              <a:rPr lang="en-US" sz="125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decided who survived — luck, money, age, or sex?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7" grpId="0"/>
      <p:bldP spid="16" grpId="0"/>
      <p:bldP spid="17" grpId="0"/>
    </p:bldLst>
  </p:timing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 ·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Helper: pandas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035040" cy="4114800"/>
          </a:xfrm>
          <a:prstGeom prst="roundRect">
            <a:avLst>
              <a:gd name="adj" fmla="val 1778"/>
            </a:avLst>
          </a:prstGeom>
          <a:solidFill>
            <a:srgbClr val="0F2740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91640"/>
            <a:ext cx="100584" cy="100584"/>
          </a:xfrm>
          <a:prstGeom prst="ellipse">
            <a:avLst/>
          </a:prstGeom>
          <a:solidFill>
            <a:srgbClr val="E2433A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691640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" y="1691640"/>
            <a:ext cx="100584" cy="10058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Text 7"/>
          <p:cNvSpPr/>
          <p:nvPr/>
        </p:nvSpPr>
        <p:spPr>
          <a:xfrm>
            <a:off x="3840480" y="1627632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explore.py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1938528"/>
            <a:ext cx="557784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8FA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load the table from a file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pd.read_csv("titanic.csv")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      # peek: first 5 rows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       # (891, 12) rows, cols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df.describe()  # min, max, average...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8FA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question, one line: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df["Age"].mean()   # average age: 29.7
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0" y="1554480"/>
            <a:ext cx="480060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0" y="17830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pandas = Excel for Python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168896" y="2350008"/>
            <a:ext cx="118872" cy="118872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7406640" y="2286000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read_csv  </a:t>
            </a:r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data file into a table called a DataFrame.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168896" y="3191256"/>
            <a:ext cx="118872" cy="118872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3127248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 / shape  </a:t>
            </a:r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peek first — know what you are working with.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168896" y="4032504"/>
            <a:ext cx="118872" cy="118872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0" y="3968496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describe()  </a:t>
            </a:r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statistics for every number column.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168896" y="4873752"/>
            <a:ext cx="118872" cy="118872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7406640" y="4809744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df["Age"].mean()  </a:t>
            </a:r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column, ask it a question.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870448"/>
            <a:ext cx="11091672" cy="411480"/>
          </a:xfrm>
          <a:prstGeom prst="roundRect">
            <a:avLst>
              <a:gd name="adj" fmla="val 15556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861304"/>
            <a:ext cx="10725912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#1 of data work: </a:t>
            </a:r>
            <a:pPr indent="0" marL="0">
              <a:buNone/>
            </a:pPr>
            <a:r>
              <a:rPr lang="en-US" sz="12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look at the data before you analyze it.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 ·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Ask the Data a Question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035040" cy="4114800"/>
          </a:xfrm>
          <a:prstGeom prst="roundRect">
            <a:avLst>
              <a:gd name="adj" fmla="val 1778"/>
            </a:avLst>
          </a:prstGeom>
          <a:solidFill>
            <a:srgbClr val="0F2740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91640"/>
            <a:ext cx="100584" cy="100584"/>
          </a:xfrm>
          <a:prstGeom prst="ellipse">
            <a:avLst/>
          </a:prstGeom>
          <a:solidFill>
            <a:srgbClr val="E2433A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691640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" y="1691640"/>
            <a:ext cx="100584" cy="10058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Text 7"/>
          <p:cNvSpPr/>
          <p:nvPr/>
        </p:nvSpPr>
        <p:spPr>
          <a:xfrm>
            <a:off x="3840480" y="1627632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questions.py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1938528"/>
            <a:ext cx="557784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8FA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Did ticket class change survival?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df.groupby("Class")["Survived"].mean()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8FA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1st    0.63   &lt;- 63% survived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2nd    0.47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3rd    0.24   &lt;- only 24%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8FA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by sex?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df.groupby("Sex")["Survived"].mean()
</a:t>
            </a:r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female 0.74    male 0.19
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0" y="1554480"/>
            <a:ext cx="480060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0" y="17830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groupby = "split into teams"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168896" y="2350008"/>
            <a:ext cx="118872" cy="11887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7406640" y="2286000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groupby("Class")  </a:t>
            </a:r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passengers into 1st / 2nd / 3rd teams.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168896" y="3191256"/>
            <a:ext cx="118872" cy="11887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3127248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["Survived"]  </a:t>
            </a:r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at one column for each team.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168896" y="4032504"/>
            <a:ext cx="118872" cy="11887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0" y="3968496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.mean()  </a:t>
            </a:r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it — for 0/1 data that IS the survival rate.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168896" y="4873752"/>
            <a:ext cx="118872" cy="11887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7406640" y="4809744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line of code  </a:t>
            </a:r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a question historians wrote books about.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870448"/>
            <a:ext cx="11091672" cy="411480"/>
          </a:xfrm>
          <a:prstGeom prst="roundRect">
            <a:avLst>
              <a:gd name="adj" fmla="val 15556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861304"/>
            <a:ext cx="10725912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vibe way: </a:t>
            </a:r>
            <a:pPr indent="0" marL="0">
              <a:buNone/>
            </a:pPr>
            <a:r>
              <a:rPr lang="en-US" sz="12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ask Cursor — "what % survived in each class?" — and it writes this for you.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 ·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Clean Before You Analyze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is messy. Garbage in → garbage out.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39496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103120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084832"/>
            <a:ext cx="6583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08760" y="207568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Missing values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508760" y="2606040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 passengers have no age! Drop them, or fill with the average — your choice, but decide.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0" y="2103120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2084832"/>
            <a:ext cx="6583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78040" y="207568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Wrong types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178040" y="2606040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"22" as text can’t be averaged. Numbers must be numbers, dates must be dates.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539496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931920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0284C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13632"/>
            <a:ext cx="6583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≠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390448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Weird values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508760" y="4434840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 of 230? A fare of -5? Find outliers and check if they are typos.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3657600"/>
            <a:ext cx="539496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2240" y="3931920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913632"/>
            <a:ext cx="6583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=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178040" y="390448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Duplicates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178040" y="4434840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row twice counts twice. Find and remove repeats.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715000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705856"/>
            <a:ext cx="10725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</a:t>
            </a:r>
            <a:pPr indent="0" marL="0">
              <a:buNone/>
            </a:pPr>
            <a:r>
              <a:rPr lang="en-US" sz="1250" i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"Check titanic.csv for missing values, weird numbers and duplicates — fix them and explain what you did."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 · CHARTS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Which Chart for Which Question?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15184" cy="3429000"/>
          </a:xfrm>
          <a:prstGeom prst="roundRect">
            <a:avLst>
              <a:gd name="adj" fmla="val 2448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286000"/>
            <a:ext cx="201168" cy="457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Shape 5"/>
          <p:cNvSpPr/>
          <p:nvPr/>
        </p:nvSpPr>
        <p:spPr>
          <a:xfrm>
            <a:off x="1161288" y="2011680"/>
            <a:ext cx="201168" cy="7315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Shape 6"/>
          <p:cNvSpPr/>
          <p:nvPr/>
        </p:nvSpPr>
        <p:spPr>
          <a:xfrm>
            <a:off x="1453896" y="2423160"/>
            <a:ext cx="201168" cy="3200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0175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456432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Compare groups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class survived most?"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77154" y="1691640"/>
            <a:ext cx="2615184" cy="3429000"/>
          </a:xfrm>
          <a:prstGeom prst="roundRect">
            <a:avLst>
              <a:gd name="adj" fmla="val 2448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97194" y="2514600"/>
            <a:ext cx="411480" cy="-32004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08674" y="2194560"/>
            <a:ext cx="411480" cy="41148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20154" y="2606040"/>
            <a:ext cx="182880" cy="-45720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1474" y="30175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51474" y="3456432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Change over time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651474" y="38862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did the temperature change this week?"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05667" y="1691640"/>
            <a:ext cx="2615184" cy="3429000"/>
          </a:xfrm>
          <a:prstGeom prst="roundRect">
            <a:avLst>
              <a:gd name="adj" fmla="val 2448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25707" y="2560320"/>
            <a:ext cx="118872" cy="11887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54307" y="2423160"/>
            <a:ext cx="118872" cy="11887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82907" y="2468880"/>
            <a:ext cx="118872" cy="11887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3" name="Shape 21"/>
          <p:cNvSpPr/>
          <p:nvPr/>
        </p:nvSpPr>
        <p:spPr>
          <a:xfrm>
            <a:off x="7165787" y="2240280"/>
            <a:ext cx="118872" cy="11887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4" name="Shape 22"/>
          <p:cNvSpPr/>
          <p:nvPr/>
        </p:nvSpPr>
        <p:spPr>
          <a:xfrm>
            <a:off x="7348667" y="2103120"/>
            <a:ext cx="118872" cy="11887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Text 23"/>
          <p:cNvSpPr/>
          <p:nvPr/>
        </p:nvSpPr>
        <p:spPr>
          <a:xfrm>
            <a:off x="6479987" y="30175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Scatter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79987" y="3456432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Are two things linked?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79987" y="38862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taller students have bigger feet?"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034181" y="1691640"/>
            <a:ext cx="2615184" cy="3429000"/>
          </a:xfrm>
          <a:prstGeom prst="roundRect">
            <a:avLst>
              <a:gd name="adj" fmla="val 2448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491381" y="2011680"/>
            <a:ext cx="731520" cy="73152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30" name="Shape 28"/>
          <p:cNvSpPr/>
          <p:nvPr/>
        </p:nvSpPr>
        <p:spPr>
          <a:xfrm>
            <a:off x="9857141" y="2377440"/>
            <a:ext cx="36576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57141" y="2377440"/>
            <a:ext cx="109728" cy="-329184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08501" y="30175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Pie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01" y="3456432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Parts of a whole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308501" y="38862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share of passengers was in 3rd class?"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5486400"/>
            <a:ext cx="11091672" cy="502920"/>
          </a:xfrm>
          <a:prstGeom prst="roundRect">
            <a:avLst>
              <a:gd name="adj" fmla="val 12727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477256"/>
            <a:ext cx="10725912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Cursor the question, not the chart: </a:t>
            </a:r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usually pick the right one — but now you can check it.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 · CHARTS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Code to Chart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0F2740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737360"/>
            <a:ext cx="100584" cy="100584"/>
          </a:xfrm>
          <a:prstGeom prst="ellipse">
            <a:avLst/>
          </a:prstGeom>
          <a:solidFill>
            <a:srgbClr val="E2433A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737360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" y="1737360"/>
            <a:ext cx="100584" cy="10058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673352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chart.py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1984248"/>
            <a:ext cx="50292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matplotlib.pyplot as plt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= df.groupby("Class")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["Survived"].mean() * 100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rate.plot(kind="bar",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color=["#0EA5E9",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"#0284C7","#F97316"])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plt.ylabel("survived (%)")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plt.savefig("by_class.png")
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0" y="1600200"/>
            <a:ext cx="525780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pic>
        <p:nvPicPr>
          <p:cNvPr id="12" name="Image 0" descr="chart_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874520"/>
            <a:ext cx="4617720" cy="30175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720840" y="4983480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by_class.png — made by the code on the left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5797296"/>
            <a:ext cx="10725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savefig </a:t>
            </a:r>
            <a:pPr indent="0" marL="0">
              <a:buNone/>
            </a:pPr>
            <a:r>
              <a:rPr lang="en-US" sz="125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 real image file — drop it into your report, slides or website.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 · CHARTS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Chart Answers in 3 Seconds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989320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pic>
        <p:nvPicPr>
          <p:cNvPr id="6" name="Image 0" descr="chart_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20240"/>
            <a:ext cx="5394960" cy="3520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645920"/>
            <a:ext cx="4846320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pic>
        <p:nvPicPr>
          <p:cNvPr id="8" name="Image 1" descr="chart_s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920240"/>
            <a:ext cx="4114800" cy="35204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797296"/>
            <a:ext cx="10725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the data tells: </a:t>
            </a:r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"women and children first" was real — and so was the unfair gap between ticket classes.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11.xml><?xml version="1.0" encoding="utf-8"?>
<p:sld xmlns:a="http://schemas.openxmlformats.org/drawingml/2006/main" xmlns:p="http://schemas.openxmlformats.org/presentationml/2006/main">
  <p:cSld name="Slide 11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3 · MACHINE LEARNING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Machine Learning?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91672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28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Normal programming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3317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E6F2FB"/>
          </a:solidFill>
          <a:ln w="12700">
            <a:solidFill>
              <a:srgbClr val="BBD9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22576"/>
            <a:ext cx="310896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(written by you)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480560" y="23317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E6F2FB"/>
          </a:solidFill>
          <a:ln w="12700">
            <a:solidFill>
              <a:srgbClr val="BBD9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322576"/>
            <a:ext cx="310896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Data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23317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E6F2FB"/>
          </a:solidFill>
          <a:ln w="12700">
            <a:solidFill>
              <a:srgbClr val="BBD9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2322576"/>
            <a:ext cx="310896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Answers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11091672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F9C9A3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8404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Machine learning — flipped!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434340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334256"/>
            <a:ext cx="310896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80560" y="434340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4334256"/>
            <a:ext cx="310896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Answers (examples)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434340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0" y="4334256"/>
            <a:ext cx="310896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Rules (found by the computer)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2727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751576"/>
            <a:ext cx="10725912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our case: </a:t>
            </a:r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computer 891 passengers and who survived — it finds the pattern by itself.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2.xml><?xml version="1.0" encoding="utf-8"?>
<p:sld xmlns:a="http://schemas.openxmlformats.org/drawingml/2006/main" xmlns:p="http://schemas.openxmlformats.org/presentationml/2006/main">
  <p:cSld name="Slide 1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3 · MACHINE LEARNING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Train on Some, Test on the Rest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8302752" cy="1005840"/>
          </a:xfrm>
          <a:prstGeom prst="roundRect">
            <a:avLst>
              <a:gd name="adj" fmla="val 9091"/>
            </a:avLst>
          </a:prstGeom>
          <a:solidFill>
            <a:srgbClr val="0EA5E9"/>
          </a:solidFill>
          <a:ln/>
        </p:spPr>
      </p:sp>
      <p:sp>
        <p:nvSpPr>
          <p:cNvPr id="6" name="Shape 4"/>
          <p:cNvSpPr/>
          <p:nvPr/>
        </p:nvSpPr>
        <p:spPr>
          <a:xfrm>
            <a:off x="9262872" y="2331720"/>
            <a:ext cx="2075688" cy="1005840"/>
          </a:xfrm>
          <a:prstGeom prst="roundRect">
            <a:avLst>
              <a:gd name="adj" fmla="val 9091"/>
            </a:avLst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13432"/>
            <a:ext cx="830275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TRAIN — 80% of passengers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262872" y="2313432"/>
            <a:ext cx="2075688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— 20%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8302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learns from these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78240" y="34290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hidden until the exam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206240"/>
            <a:ext cx="10515600" cy="1463040"/>
          </a:xfrm>
          <a:prstGeom prst="roundRect">
            <a:avLst>
              <a:gd name="adj" fmla="val 4375"/>
            </a:avLst>
          </a:prstGeom>
          <a:solidFill>
            <a:srgbClr val="E6F2FB"/>
          </a:solidFill>
          <a:ln w="12700">
            <a:solidFill>
              <a:srgbClr val="BBD9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97280" y="4389120"/>
            <a:ext cx="9966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hide some data?  </a:t>
            </a:r>
            <a:pPr indent="0" marL="0">
              <a:buNone/>
            </a:pPr>
            <a:r>
              <a:rPr lang="en-US" sz="135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practicing a quiz, then being graded on the exact same quiz — of course you ace it! A model must be tested on questions it has </a:t>
            </a:r>
            <a:pPr indent="0" marL="0">
              <a:buNone/>
            </a:pPr>
            <a:r>
              <a:rPr lang="en-US" sz="135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seen</a:t>
            </a:r>
            <a:pPr indent="0" marL="0">
              <a:buNone/>
            </a:pPr>
            <a:r>
              <a:rPr lang="en-US" sz="135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prove it really learned the pattern, not just memorized the answers.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3.xml><?xml version="1.0" encoding="utf-8"?>
<p:sld xmlns:a="http://schemas.openxmlformats.org/drawingml/2006/main" xmlns:p="http://schemas.openxmlformats.org/presentationml/2006/main">
  <p:cSld name="Slide 1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3 · MACHINE LEARNING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Train Your First Model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309360" cy="4114800"/>
          </a:xfrm>
          <a:prstGeom prst="roundRect">
            <a:avLst>
              <a:gd name="adj" fmla="val 1778"/>
            </a:avLst>
          </a:prstGeom>
          <a:solidFill>
            <a:srgbClr val="0F2740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91640"/>
            <a:ext cx="100584" cy="100584"/>
          </a:xfrm>
          <a:prstGeom prst="ellipse">
            <a:avLst/>
          </a:prstGeom>
          <a:solidFill>
            <a:srgbClr val="E2433A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691640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" y="1691640"/>
            <a:ext cx="100584" cy="10058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1627632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train.py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1938528"/>
            <a:ext cx="585216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sklearn.tree import DecisionTreeClassifier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sklearn.model_selection import train_test_split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8FA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(Sex was converted to 0/1 first)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df[["Class", "Sex", "Age", "Fare"]]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df["Survived"]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X_tr, X_te, y_tr, y_te = train_test_split(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X, y, test_size=0.2)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DecisionTreeClassifier(max_depth=3)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model.fit(X_tr, y_tr)        # learn!
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model.score(X_te, y_te)      # 0.80
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0" y="1554480"/>
            <a:ext cx="45262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406640" y="1783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just happened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424928" y="2350008"/>
            <a:ext cx="118872" cy="118872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7662672" y="2286000"/>
            <a:ext cx="384048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the clues  </a:t>
            </a:r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class, sex, age, fare — what the model may look at.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24928" y="3191256"/>
            <a:ext cx="118872" cy="118872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7662672" y="3127248"/>
            <a:ext cx="384048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the answer  </a:t>
            </a:r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survived or not — what it must predict.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24928" y="4032504"/>
            <a:ext cx="118872" cy="118872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8" name="Text 16"/>
          <p:cNvSpPr/>
          <p:nvPr/>
        </p:nvSpPr>
        <p:spPr>
          <a:xfrm>
            <a:off x="7662672" y="3968496"/>
            <a:ext cx="384048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fit()  </a:t>
            </a:r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studies the training passengers.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424928" y="4873752"/>
            <a:ext cx="118872" cy="118872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7662672" y="4809744"/>
            <a:ext cx="384048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score() = 0.80  </a:t>
            </a:r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predicts 80% of unseen passengers correctly!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870448"/>
            <a:ext cx="11091672" cy="411480"/>
          </a:xfrm>
          <a:prstGeom prst="roundRect">
            <a:avLst>
              <a:gd name="adj" fmla="val 15556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861304"/>
            <a:ext cx="10725912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tree </a:t>
            </a:r>
            <a:pPr indent="0" marL="0">
              <a:buNone/>
            </a:pPr>
            <a:r>
              <a:rPr lang="en-US" sz="12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just a flowchart of yes/no questions the computer invented — ask Cursor to draw it!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4.xml><?xml version="1.0" encoding="utf-8"?>
<p:sld xmlns:a="http://schemas.openxmlformats.org/drawingml/2006/main" xmlns:p="http://schemas.openxmlformats.org/presentationml/2006/main">
  <p:cSld name="Slide 1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3 · MACHINE LEARNING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Good Is the Model?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749040" cy="3474720"/>
          </a:xfrm>
          <a:prstGeom prst="roundRect">
            <a:avLst>
              <a:gd name="adj" fmla="val 184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0312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accuracy on the test set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guessed right for 8 of every 10 passengers it had never seen.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26280" y="1691640"/>
            <a:ext cx="7132320" cy="3474720"/>
          </a:xfrm>
          <a:prstGeom prst="roundRect">
            <a:avLst>
              <a:gd name="adj" fmla="val 184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9202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Always ask these questions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800600" y="24231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00016" y="2414016"/>
            <a:ext cx="594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49240" y="2377440"/>
            <a:ext cx="6035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Better than guessing?  </a:t>
            </a:r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saying "died" is already 62% right. 80% beats it — good.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00600" y="331927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F97316"/>
          </a:solidFill>
          <a:ln/>
        </p:spPr>
      </p:sp>
      <p:sp>
        <p:nvSpPr>
          <p:cNvPr id="15" name="Text 13"/>
          <p:cNvSpPr/>
          <p:nvPr/>
        </p:nvSpPr>
        <p:spPr>
          <a:xfrm>
            <a:off x="4700016" y="3310128"/>
            <a:ext cx="594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49240" y="3273552"/>
            <a:ext cx="6035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does it get wrong?  </a:t>
            </a:r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passengers fool the model? Look at the mistakes.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800600" y="421538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84C7"/>
          </a:solidFill>
          <a:ln/>
        </p:spPr>
      </p:sp>
      <p:sp>
        <p:nvSpPr>
          <p:cNvPr id="18" name="Text 16"/>
          <p:cNvSpPr/>
          <p:nvPr/>
        </p:nvSpPr>
        <p:spPr>
          <a:xfrm>
            <a:off x="4700016" y="4206240"/>
            <a:ext cx="594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49240" y="4169664"/>
            <a:ext cx="6035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Would it work on new data?  </a:t>
            </a:r>
            <a:pPr indent="0" marL="0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memorizes will fail on a different ship.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577840"/>
            <a:ext cx="11091672" cy="502920"/>
          </a:xfrm>
          <a:prstGeom prst="roundRect">
            <a:avLst>
              <a:gd name="adj" fmla="val 12727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568696"/>
            <a:ext cx="10725912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a number alone: </a:t>
            </a:r>
            <a:pPr indent="0" marL="0">
              <a:buNone/>
            </a:pPr>
            <a:r>
              <a:rPr lang="en-US" sz="13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score can still hide silly mistakes. Stay the detective.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5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CASE STUDY · WE REALLY RAN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Real Run: 891 Passengers, One Script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309360" cy="4114800"/>
          </a:xfrm>
          <a:prstGeom prst="roundRect">
            <a:avLst>
              <a:gd name="adj" fmla="val 1778"/>
            </a:avLst>
          </a:prstGeom>
          <a:solidFill>
            <a:srgbClr val="0F2740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91640"/>
            <a:ext cx="100584" cy="100584"/>
          </a:xfrm>
          <a:prstGeom prst="ellipse">
            <a:avLst/>
          </a:prstGeom>
          <a:solidFill>
            <a:srgbClr val="E2433A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691640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" y="1691640"/>
            <a:ext cx="100584" cy="10058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1627632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output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1938528"/>
            <a:ext cx="585216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analyze_titanic.py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shape: (891, 12)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survival by class (%):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1    63.0   2    47.3   3    24.2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survival by sex (%):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female 74.2        male 18.9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 ages: 177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charts saved: by_class.png, by_sex.png, ...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accuracy: 0.80  (baseline 0.59)
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132320" y="1554480"/>
            <a:ext cx="45262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pic>
        <p:nvPicPr>
          <p:cNvPr id="12" name="Image 0" descr="ex16_a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828800"/>
            <a:ext cx="3886200" cy="264261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269480" y="4526280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ages.png — made by the same run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06640" y="4892040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today's slides </a:t>
            </a:r>
            <a:pPr indent="0" marL="0">
              <a:buNone/>
            </a:pPr>
            <a:r>
              <a:rPr lang="en-US" sz="115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this run</a:t>
            </a:r>
            <a:pPr indent="0" marL="0">
              <a:buNone/>
            </a:pPr>
            <a:r>
              <a:rPr lang="en-US" sz="11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63/47/24, 74/19, 177 missing ages, 80%.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5870448"/>
            <a:ext cx="11091672" cy="411480"/>
          </a:xfrm>
          <a:prstGeom prst="roundRect">
            <a:avLst>
              <a:gd name="adj" fmla="val 15556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5861304"/>
            <a:ext cx="10725912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yourself: </a:t>
            </a:r>
            <a:pPr indent="0" marL="0">
              <a:buNone/>
            </a:pPr>
            <a:r>
              <a:rPr lang="en-US" sz="12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examples/june-16-data-analysis-ml/ — titanic.csv and the script are in the class repo.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16.xml><?xml version="1.0" encoding="utf-8"?>
<p:sld xmlns:a="http://schemas.openxmlformats.org/drawingml/2006/main" xmlns:p="http://schemas.openxmlformats.org/presentationml/2006/main">
  <p:cSld name="Slide 1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PUT IT ALL TOGETHER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Kickoff Prompt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766560" cy="4160520"/>
          </a:xfrm>
          <a:prstGeom prst="roundRect">
            <a:avLst>
              <a:gd name="adj" fmla="val 1538"/>
            </a:avLst>
          </a:prstGeom>
          <a:solidFill>
            <a:srgbClr val="E6F2FB"/>
          </a:solidFill>
          <a:ln w="12700">
            <a:solidFill>
              <a:srgbClr val="BBD9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 TO CURSOR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121408"/>
            <a:ext cx="62179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"Analyze titanic.csv step by step: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Load it and describe what’s inside.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Clean it — handle missing ages, explain your choices.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Make 3 charts: survival by class, by sex, and an age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histogram. Save them as PNG files.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Train a decision tree to predict survival,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test on 20% held-out data, report the accuracy.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Write report.md with the charts and what we learned.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after each step."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35240" y="1600200"/>
            <a:ext cx="402336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863840" y="1746504"/>
            <a:ext cx="384048" cy="38404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7754112" y="1737360"/>
            <a:ext cx="603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0" y="1591056"/>
            <a:ext cx="31089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Explore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35240" y="2441448"/>
            <a:ext cx="402336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863840" y="2587752"/>
            <a:ext cx="384048" cy="384048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4" name="Text 12"/>
          <p:cNvSpPr/>
          <p:nvPr/>
        </p:nvSpPr>
        <p:spPr>
          <a:xfrm>
            <a:off x="7754112" y="2578608"/>
            <a:ext cx="603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12480" y="2432304"/>
            <a:ext cx="31089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Clean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35240" y="3282696"/>
            <a:ext cx="402336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863840" y="342900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7754112" y="3419856"/>
            <a:ext cx="603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12480" y="3273552"/>
            <a:ext cx="31089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Chart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35240" y="4123944"/>
            <a:ext cx="402336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863840" y="4270248"/>
            <a:ext cx="384048" cy="38404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7754112" y="4261104"/>
            <a:ext cx="603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0" y="4114800"/>
            <a:ext cx="31089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35240" y="4965192"/>
            <a:ext cx="402336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863840" y="5111496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6" name="Text 24"/>
          <p:cNvSpPr/>
          <p:nvPr/>
        </p:nvSpPr>
        <p:spPr>
          <a:xfrm>
            <a:off x="7754112" y="5102352"/>
            <a:ext cx="603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12480" y="4956048"/>
            <a:ext cx="31089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870448"/>
            <a:ext cx="11091672" cy="411480"/>
          </a:xfrm>
          <a:prstGeom prst="roundRect">
            <a:avLst>
              <a:gd name="adj" fmla="val 15556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861304"/>
            <a:ext cx="10725912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steps = better results. </a:t>
            </a:r>
            <a:pPr indent="0" marL="0">
              <a:buNone/>
            </a:pPr>
            <a:r>
              <a:rPr lang="en-US" sz="12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follows your plan instead of inventing its own.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7.xml><?xml version="1.0" encoding="utf-8"?>
<p:sld xmlns:a="http://schemas.openxmlformats.org/drawingml/2006/main" xmlns:p="http://schemas.openxmlformats.org/presentationml/2006/main">
  <p:cSld name="Slide 1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669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Detective Rules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16,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47672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938528"/>
            <a:ext cx="640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191109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Look first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258775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head(), shape, describe() — before any analysis.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1396" y="1691640"/>
            <a:ext cx="356616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85716" y="1947672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475988" y="1938528"/>
            <a:ext cx="640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80076" y="191109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Clean first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04004" y="258775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and weird values poison every result downstream.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74152" y="1691640"/>
            <a:ext cx="356616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48472" y="1947672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97316"/>
          </a:solidFill>
          <a:ln/>
        </p:spPr>
      </p:sp>
      <p:sp>
        <p:nvSpPr>
          <p:cNvPr id="17" name="Text 15"/>
          <p:cNvSpPr/>
          <p:nvPr/>
        </p:nvSpPr>
        <p:spPr>
          <a:xfrm>
            <a:off x="8238744" y="1938528"/>
            <a:ext cx="640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42832" y="191109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Chart everything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66760" y="258775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eyes find patterns that numbers hide.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56616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050792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0EA5E9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041648"/>
            <a:ext cx="640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401421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Start simple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1248" y="469087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decision tree before any fancy model.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11396" y="3794760"/>
            <a:ext cx="356616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85716" y="4050792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97316"/>
          </a:solidFill>
          <a:ln/>
        </p:spPr>
      </p:sp>
      <p:sp>
        <p:nvSpPr>
          <p:cNvPr id="27" name="Text 25"/>
          <p:cNvSpPr/>
          <p:nvPr/>
        </p:nvSpPr>
        <p:spPr>
          <a:xfrm>
            <a:off x="4475988" y="4041648"/>
            <a:ext cx="640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80076" y="401421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on unseen data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604004" y="469087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grade the model on its own practice questions.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74152" y="3794760"/>
            <a:ext cx="356616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sx="100000" sy="100000" kx="0" ky="0" algn="bl" rotWithShape="0" blurRad="76200" dist="12700" dir="5400000">
              <a:srgbClr val="B8C7D9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48472" y="4050792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0EA5E9"/>
          </a:solidFill>
          <a:ln/>
        </p:spPr>
      </p:sp>
      <p:sp>
        <p:nvSpPr>
          <p:cNvPr id="32" name="Text 30"/>
          <p:cNvSpPr/>
          <p:nvPr/>
        </p:nvSpPr>
        <p:spPr>
          <a:xfrm>
            <a:off x="8238744" y="4041648"/>
            <a:ext cx="640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942832" y="401421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Commit each step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366760" y="469087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→ clean → chart → model: one commit each.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15556"/>
            </a:avLst>
          </a:prstGeom>
          <a:solidFill>
            <a:srgbClr val="FFF3E8"/>
          </a:solidFill>
          <a:ln w="12700">
            <a:solidFill>
              <a:srgbClr val="F9C9A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888736"/>
            <a:ext cx="10725912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loop: </a:t>
            </a:r>
            <a:pPr indent="0" marL="0">
              <a:buNone/>
            </a:pPr>
            <a:r>
              <a:rPr lang="en-US" sz="120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→ data → chart → answer → next question.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3566160"/>
            <a:ext cx="4023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E2EE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has stories.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Now you can read them.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68680" y="39319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find a dataset you care about — games, sports, music — and interview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6035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Day 6  ·  June 16,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2026-06-11T06:38:10Z</dcterms:created>
  <dcterms:modified xsi:type="dcterms:W3CDTF">2026-06-11T06:38:10Z</dcterms:modified>
</cp:coreProperties>
</file>