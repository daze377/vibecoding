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63840" y="182880"/>
            <a:ext cx="411480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0" b="1" dirty="0">
                <a:solidFill>
                  <a:srgbClr val="E2EE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&lt;/&gt;</a:t>
            </a:r>
            <a:endParaRPr lang="en-US" sz="300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50292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1216152" y="1874520"/>
            <a:ext cx="164592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1031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STEM INSTITUTE  ·  MODULE 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3504" y="246888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Vibe Coding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40080" y="3886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 to the computer. </a:t>
            </a:r>
            <a:pPr indent="0" marL="0">
              <a:buNone/>
            </a:pPr>
            <a:r>
              <a:rPr lang="en-US" sz="22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writes the code.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58368" y="4983480"/>
            <a:ext cx="45720" cy="5029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49834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 —  June 8,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75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Today's Plan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51663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148840"/>
            <a:ext cx="502920" cy="50292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00200" y="196596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vibe coding?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355080" y="1965960"/>
            <a:ext cx="51663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11112" y="2148840"/>
            <a:ext cx="502920" cy="50292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661111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315200" y="196596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can it do?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3044952"/>
            <a:ext cx="51663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96112" y="3227832"/>
            <a:ext cx="502920" cy="50292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3227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00200" y="3044952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goal of this class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355080" y="3044952"/>
            <a:ext cx="51663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611112" y="3227832"/>
            <a:ext cx="502920" cy="50292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6611112" y="3227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315200" y="3044952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LLM to Agent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40080" y="4123944"/>
            <a:ext cx="51663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96112" y="4306824"/>
            <a:ext cx="502920" cy="50292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4" name="Text 22"/>
          <p:cNvSpPr/>
          <p:nvPr/>
        </p:nvSpPr>
        <p:spPr>
          <a:xfrm>
            <a:off x="896112" y="43068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1600200" y="4123944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models today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355080" y="4123944"/>
            <a:ext cx="51663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611112" y="4306824"/>
            <a:ext cx="502920" cy="50292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8" name="Text 26"/>
          <p:cNvSpPr/>
          <p:nvPr/>
        </p:nvSpPr>
        <p:spPr>
          <a:xfrm>
            <a:off x="6611112" y="43068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7315200" y="4123944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tools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640080" y="5202936"/>
            <a:ext cx="51663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96112" y="5385816"/>
            <a:ext cx="502920" cy="50292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32" name="Text 30"/>
          <p:cNvSpPr/>
          <p:nvPr/>
        </p:nvSpPr>
        <p:spPr>
          <a:xfrm>
            <a:off x="896112" y="5385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1600200" y="5202936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tool: Cursor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6355080" y="5202936"/>
            <a:ext cx="51663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611112" y="5385816"/>
            <a:ext cx="502920" cy="50292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36" name="Text 34"/>
          <p:cNvSpPr/>
          <p:nvPr/>
        </p:nvSpPr>
        <p:spPr>
          <a:xfrm>
            <a:off x="6611112" y="5385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7315200" y="5202936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+ build a blog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8,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75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IDEA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Vibe Coding?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352044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51560" y="2377440"/>
            <a:ext cx="914400" cy="91440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9304" y="2615184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148840" y="246888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51560" y="327355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 say it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1051560" y="3767328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AI what you want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plain words.</a:t>
            </a:r>
            <a:endParaRPr lang="en-US" sz="14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5384" y="3154680"/>
            <a:ext cx="292608" cy="29260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462272" y="2011680"/>
            <a:ext cx="352044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873752" y="2377440"/>
            <a:ext cx="914400" cy="914400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261518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971032" y="246888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4873752" y="327355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builds it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4873752" y="3767328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writes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for you.</a:t>
            </a:r>
            <a:endParaRPr lang="en-US" sz="14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7576" y="3154680"/>
            <a:ext cx="292608" cy="292608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8284464" y="2011680"/>
            <a:ext cx="352044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695944" y="2377440"/>
            <a:ext cx="914400" cy="91440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33688" y="261518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793224" y="246888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200" dirty="0"/>
          </a:p>
        </p:txBody>
      </p:sp>
      <p:sp>
        <p:nvSpPr>
          <p:cNvPr id="24" name="Text 17"/>
          <p:cNvSpPr/>
          <p:nvPr/>
        </p:nvSpPr>
        <p:spPr>
          <a:xfrm>
            <a:off x="8695944" y="327355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 check it</a:t>
            </a:r>
            <a:endParaRPr lang="en-US" sz="2100" dirty="0"/>
          </a:p>
        </p:txBody>
      </p:sp>
      <p:sp>
        <p:nvSpPr>
          <p:cNvPr id="25" name="Text 18"/>
          <p:cNvSpPr/>
          <p:nvPr/>
        </p:nvSpPr>
        <p:spPr>
          <a:xfrm>
            <a:off x="8695944" y="3767328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read, test,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fix it.</a:t>
            </a:r>
            <a:endParaRPr lang="en-US" sz="1400" dirty="0"/>
          </a:p>
        </p:txBody>
      </p:sp>
      <p:sp>
        <p:nvSpPr>
          <p:cNvPr id="26" name="Shape 19"/>
          <p:cNvSpPr/>
          <p:nvPr/>
        </p:nvSpPr>
        <p:spPr>
          <a:xfrm>
            <a:off x="640080" y="5074920"/>
            <a:ext cx="11155680" cy="868680"/>
          </a:xfrm>
          <a:prstGeom prst="roundRect">
            <a:avLst>
              <a:gd name="adj" fmla="val 8421"/>
            </a:avLst>
          </a:prstGeom>
          <a:solidFill>
            <a:srgbClr val="E6F2FB"/>
          </a:solidFill>
          <a:ln/>
        </p:spPr>
      </p:sp>
      <p:sp>
        <p:nvSpPr>
          <p:cNvPr id="27" name="Text 20"/>
          <p:cNvSpPr/>
          <p:nvPr/>
        </p:nvSpPr>
        <p:spPr>
          <a:xfrm>
            <a:off x="640080" y="507492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line:  </a:t>
            </a:r>
            <a:pPr algn="ctr" indent="0" marL="0">
              <a:buNone/>
            </a:pPr>
            <a:r>
              <a:rPr lang="en-US" sz="19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lead. The AI types.</a:t>
            </a:r>
            <a:endParaRPr lang="en-US" sz="1900" dirty="0"/>
          </a:p>
        </p:txBody>
      </p:sp>
      <p:sp>
        <p:nvSpPr>
          <p:cNvPr id="28" name="Text 21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8,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75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Can It Do?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2011680"/>
            <a:ext cx="3502152" cy="12801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Shape 6"/>
          <p:cNvSpPr/>
          <p:nvPr/>
        </p:nvSpPr>
        <p:spPr>
          <a:xfrm>
            <a:off x="1805940" y="2560320"/>
            <a:ext cx="1188720" cy="118872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5007" y="2869387"/>
            <a:ext cx="570586" cy="57058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39319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Daily Work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14400" y="44348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Stats, charts,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documents.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462272" y="201168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1416" y="2011680"/>
            <a:ext cx="3502152" cy="12801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4" name="Shape 11"/>
          <p:cNvSpPr/>
          <p:nvPr/>
        </p:nvSpPr>
        <p:spPr>
          <a:xfrm>
            <a:off x="5628132" y="2560320"/>
            <a:ext cx="1188720" cy="1188720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7199" y="2869387"/>
            <a:ext cx="570586" cy="57058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462272" y="39319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Research</a:t>
            </a:r>
            <a:endParaRPr lang="en-US" sz="2200" dirty="0"/>
          </a:p>
        </p:txBody>
      </p:sp>
      <p:sp>
        <p:nvSpPr>
          <p:cNvPr id="17" name="Text 13"/>
          <p:cNvSpPr/>
          <p:nvPr/>
        </p:nvSpPr>
        <p:spPr>
          <a:xfrm>
            <a:off x="4736592" y="44348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papers, get ideas,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tests, and write.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8284464" y="201168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93608" y="2011680"/>
            <a:ext cx="3502152" cy="12801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Shape 16"/>
          <p:cNvSpPr/>
          <p:nvPr/>
        </p:nvSpPr>
        <p:spPr>
          <a:xfrm>
            <a:off x="9450324" y="2560320"/>
            <a:ext cx="1188720" cy="118872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9391" y="2869387"/>
            <a:ext cx="570586" cy="57058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284464" y="39319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Build Apps</a:t>
            </a:r>
            <a:endParaRPr lang="en-US" sz="2200" dirty="0"/>
          </a:p>
        </p:txBody>
      </p:sp>
      <p:sp>
        <p:nvSpPr>
          <p:cNvPr id="23" name="Text 18"/>
          <p:cNvSpPr/>
          <p:nvPr/>
        </p:nvSpPr>
        <p:spPr>
          <a:xfrm>
            <a:off x="8558784" y="44348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Web, mobile, games,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desktop.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8,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75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WE'RE HERE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Goal of This Class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3657600" cy="2743200"/>
          </a:xfrm>
          <a:prstGeom prst="roundRect">
            <a:avLst>
              <a:gd name="adj" fmla="val 2667"/>
            </a:avLst>
          </a:prstGeom>
          <a:solidFill>
            <a:srgbClr val="E6F2FB"/>
          </a:solidFill>
          <a:ln/>
        </p:spPr>
      </p:sp>
      <p:sp>
        <p:nvSpPr>
          <p:cNvPr id="7" name="Shape 5"/>
          <p:cNvSpPr/>
          <p:nvPr/>
        </p:nvSpPr>
        <p:spPr>
          <a:xfrm>
            <a:off x="1783080" y="2331720"/>
            <a:ext cx="1371600" cy="1371600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9696" y="2688336"/>
            <a:ext cx="658368" cy="6583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37490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By the end,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 can: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4617720" y="2011680"/>
            <a:ext cx="7178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73752" y="2194560"/>
            <a:ext cx="457200" cy="45720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624" y="231343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32120" y="2011680"/>
            <a:ext cx="6080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an idea to AI clearly.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4617720" y="2971800"/>
            <a:ext cx="7178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873752" y="3154680"/>
            <a:ext cx="457200" cy="45720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327355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532120" y="2971800"/>
            <a:ext cx="6080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small app that works.</a:t>
            </a:r>
            <a:endParaRPr lang="en-US" sz="1800" dirty="0"/>
          </a:p>
        </p:txBody>
      </p:sp>
      <p:sp>
        <p:nvSpPr>
          <p:cNvPr id="18" name="Shape 13"/>
          <p:cNvSpPr/>
          <p:nvPr/>
        </p:nvSpPr>
        <p:spPr>
          <a:xfrm>
            <a:off x="4617720" y="3931920"/>
            <a:ext cx="7178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873752" y="4114800"/>
            <a:ext cx="457200" cy="45720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2624" y="4233672"/>
            <a:ext cx="219456" cy="21945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532120" y="3931920"/>
            <a:ext cx="6080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and share your project.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640080" y="50749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real things </a:t>
            </a:r>
            <a:pPr algn="ctr" indent="0" marL="0">
              <a:buNone/>
            </a:pPr>
            <a:r>
              <a:rPr lang="en-US" sz="1800" b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even before you're an expert.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8,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75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4-WEEK PLAN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Course Schedule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2548890" cy="4160520"/>
          </a:xfrm>
          <a:prstGeom prst="roundRect">
            <a:avLst>
              <a:gd name="adj" fmla="val 2870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1783080"/>
            <a:ext cx="2530602" cy="10972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Shape 6"/>
          <p:cNvSpPr/>
          <p:nvPr/>
        </p:nvSpPr>
        <p:spPr>
          <a:xfrm>
            <a:off x="1548765" y="2148840"/>
            <a:ext cx="731520" cy="73152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9" name="Text 7"/>
          <p:cNvSpPr/>
          <p:nvPr/>
        </p:nvSpPr>
        <p:spPr>
          <a:xfrm>
            <a:off x="1548765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40080" y="2990088"/>
            <a:ext cx="2548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264408"/>
            <a:ext cx="2548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 8 – 12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49808" y="3611880"/>
            <a:ext cx="23294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Meet the AI Tools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77824" y="4325112"/>
            <a:ext cx="216484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rules, skills, MCP &amp; subagents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the software we need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website &amp; put it online (Cloudflare)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417570" y="1783080"/>
            <a:ext cx="2548890" cy="4160520"/>
          </a:xfrm>
          <a:prstGeom prst="roundRect">
            <a:avLst>
              <a:gd name="adj" fmla="val 2870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26714" y="1783080"/>
            <a:ext cx="2530602" cy="10972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6255" y="2148840"/>
            <a:ext cx="731520" cy="73152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7" name="Text 15"/>
          <p:cNvSpPr/>
          <p:nvPr/>
        </p:nvSpPr>
        <p:spPr>
          <a:xfrm>
            <a:off x="4326255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3417570" y="2990088"/>
            <a:ext cx="2548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17570" y="3264408"/>
            <a:ext cx="2548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 15 – 18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527298" y="3611880"/>
            <a:ext cx="23294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for Everyday Work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655314" y="4325112"/>
            <a:ext cx="216484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AI for daily tasks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Sort, study &amp; chart data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&amp; save web data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5060" y="1783080"/>
            <a:ext cx="2548890" cy="4160520"/>
          </a:xfrm>
          <a:prstGeom prst="roundRect">
            <a:avLst>
              <a:gd name="adj" fmla="val 2870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04204" y="1783080"/>
            <a:ext cx="2530602" cy="10972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4" name="Shape 22"/>
          <p:cNvSpPr/>
          <p:nvPr/>
        </p:nvSpPr>
        <p:spPr>
          <a:xfrm>
            <a:off x="7103745" y="2148840"/>
            <a:ext cx="731520" cy="73152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5" name="Text 23"/>
          <p:cNvSpPr/>
          <p:nvPr/>
        </p:nvSpPr>
        <p:spPr>
          <a:xfrm>
            <a:off x="7103745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6195060" y="2990088"/>
            <a:ext cx="2548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195060" y="3264408"/>
            <a:ext cx="2548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 22 – 26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04788" y="3611880"/>
            <a:ext cx="23294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Apps &amp; Games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432804" y="4325112"/>
            <a:ext cx="216484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Windows app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game with Godot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972550" y="1783080"/>
            <a:ext cx="2548890" cy="4160520"/>
          </a:xfrm>
          <a:prstGeom prst="roundRect">
            <a:avLst>
              <a:gd name="adj" fmla="val 2870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981694" y="1783080"/>
            <a:ext cx="2530602" cy="10972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2" name="Shape 30"/>
          <p:cNvSpPr/>
          <p:nvPr/>
        </p:nvSpPr>
        <p:spPr>
          <a:xfrm>
            <a:off x="9881235" y="2148840"/>
            <a:ext cx="731520" cy="73152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33" name="Text 31"/>
          <p:cNvSpPr/>
          <p:nvPr/>
        </p:nvSpPr>
        <p:spPr>
          <a:xfrm>
            <a:off x="9881235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3000" dirty="0"/>
          </a:p>
        </p:txBody>
      </p:sp>
      <p:sp>
        <p:nvSpPr>
          <p:cNvPr id="34" name="Text 32"/>
          <p:cNvSpPr/>
          <p:nvPr/>
        </p:nvSpPr>
        <p:spPr>
          <a:xfrm>
            <a:off x="8972550" y="2990088"/>
            <a:ext cx="2548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972550" y="3264408"/>
            <a:ext cx="2548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 29 – Jul 2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082278" y="3611880"/>
            <a:ext cx="23294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Own Project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210294" y="4325112"/>
            <a:ext cx="216484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&amp; build your own idea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it to the class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8,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75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AI GREW UP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LLM to Agent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498348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51560" y="2514600"/>
            <a:ext cx="914400" cy="91440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9304" y="2752344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148840" y="25603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LLM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1051560" y="3520440"/>
            <a:ext cx="4160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in  →  text out.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uses what it already learned. It answers, but it cannot act on its own.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779008" y="3291840"/>
            <a:ext cx="603504" cy="603504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429000"/>
            <a:ext cx="329184" cy="32918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537960" y="2103120"/>
            <a:ext cx="498348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949440" y="2514600"/>
            <a:ext cx="914400" cy="914400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7184" y="275234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046720" y="2560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</a:t>
            </a:r>
            <a:endParaRPr lang="en-US" sz="3000" dirty="0"/>
          </a:p>
        </p:txBody>
      </p:sp>
      <p:sp>
        <p:nvSpPr>
          <p:cNvPr id="17" name="Text 12"/>
          <p:cNvSpPr/>
          <p:nvPr/>
        </p:nvSpPr>
        <p:spPr>
          <a:xfrm>
            <a:off x="6949440" y="3520440"/>
            <a:ext cx="4160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search, look, and use tools.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takes many steps on its own to finish a job.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agent is an LLM that can </a:t>
            </a:r>
            <a:pPr algn="ctr" indent="0" marL="0">
              <a:buNone/>
            </a:pPr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act.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8,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75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LANDSCAPE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Models Today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810512"/>
            <a:ext cx="2015338" cy="3703320"/>
          </a:xfrm>
          <a:prstGeom prst="roundRect">
            <a:avLst>
              <a:gd name="adj" fmla="val 3630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1810512"/>
            <a:ext cx="1997050" cy="10972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Shape 6"/>
          <p:cNvSpPr/>
          <p:nvPr/>
        </p:nvSpPr>
        <p:spPr>
          <a:xfrm>
            <a:off x="1281989" y="2103120"/>
            <a:ext cx="731520" cy="73152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2184" y="2293315"/>
            <a:ext cx="351130" cy="35113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2926080"/>
            <a:ext cx="2015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OpenAI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40080" y="3273552"/>
            <a:ext cx="2015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051560" y="3639312"/>
            <a:ext cx="1192378" cy="0"/>
          </a:xfrm>
          <a:prstGeom prst="line">
            <a:avLst/>
          </a:prstGeom>
          <a:noFill/>
          <a:ln w="12700">
            <a:solidFill>
              <a:srgbClr val="DCE6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49808" y="3822192"/>
            <a:ext cx="1795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GPT-5.5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49808" y="4297680"/>
            <a:ext cx="1795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GPT-5.5 Instant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49808" y="4773168"/>
            <a:ext cx="1795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GPT-5.3-Codex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856586" y="1810512"/>
            <a:ext cx="2015338" cy="3703320"/>
          </a:xfrm>
          <a:prstGeom prst="roundRect">
            <a:avLst>
              <a:gd name="adj" fmla="val 3630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2865730" y="1810512"/>
            <a:ext cx="1997050" cy="10972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8" name="Shape 15"/>
          <p:cNvSpPr/>
          <p:nvPr/>
        </p:nvSpPr>
        <p:spPr>
          <a:xfrm>
            <a:off x="3498494" y="2103120"/>
            <a:ext cx="731520" cy="731520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8690" y="2293315"/>
            <a:ext cx="351130" cy="35113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2856586" y="2926080"/>
            <a:ext cx="2015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Anthropic</a:t>
            </a:r>
            <a:endParaRPr lang="en-US" sz="1700" dirty="0"/>
          </a:p>
        </p:txBody>
      </p:sp>
      <p:sp>
        <p:nvSpPr>
          <p:cNvPr id="21" name="Text 17"/>
          <p:cNvSpPr/>
          <p:nvPr/>
        </p:nvSpPr>
        <p:spPr>
          <a:xfrm>
            <a:off x="2856586" y="3273552"/>
            <a:ext cx="2015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3268066" y="3639312"/>
            <a:ext cx="1192378" cy="0"/>
          </a:xfrm>
          <a:prstGeom prst="line">
            <a:avLst/>
          </a:prstGeom>
          <a:noFill/>
          <a:ln w="12700">
            <a:solidFill>
              <a:srgbClr val="DCE6F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2966314" y="3822192"/>
            <a:ext cx="1795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4.8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2966314" y="4297680"/>
            <a:ext cx="1795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Sonnet 4.6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2966314" y="4773168"/>
            <a:ext cx="1795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Haiku 4.5</a:t>
            </a:r>
            <a:endParaRPr lang="en-US" sz="1250" dirty="0"/>
          </a:p>
        </p:txBody>
      </p:sp>
      <p:sp>
        <p:nvSpPr>
          <p:cNvPr id="26" name="Shape 22"/>
          <p:cNvSpPr/>
          <p:nvPr/>
        </p:nvSpPr>
        <p:spPr>
          <a:xfrm>
            <a:off x="5073091" y="1810512"/>
            <a:ext cx="2015338" cy="3703320"/>
          </a:xfrm>
          <a:prstGeom prst="roundRect">
            <a:avLst>
              <a:gd name="adj" fmla="val 3630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5082235" y="1810512"/>
            <a:ext cx="1997050" cy="10972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8" name="Shape 24"/>
          <p:cNvSpPr/>
          <p:nvPr/>
        </p:nvSpPr>
        <p:spPr>
          <a:xfrm>
            <a:off x="5715000" y="2103120"/>
            <a:ext cx="731520" cy="73152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195" y="2293315"/>
            <a:ext cx="351130" cy="351130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5073091" y="2926080"/>
            <a:ext cx="2015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Microsoft</a:t>
            </a:r>
            <a:endParaRPr lang="en-US" sz="1700" dirty="0"/>
          </a:p>
        </p:txBody>
      </p:sp>
      <p:sp>
        <p:nvSpPr>
          <p:cNvPr id="31" name="Text 26"/>
          <p:cNvSpPr/>
          <p:nvPr/>
        </p:nvSpPr>
        <p:spPr>
          <a:xfrm>
            <a:off x="5073091" y="3273552"/>
            <a:ext cx="2015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5484571" y="3639312"/>
            <a:ext cx="1192378" cy="0"/>
          </a:xfrm>
          <a:prstGeom prst="line">
            <a:avLst/>
          </a:prstGeom>
          <a:noFill/>
          <a:ln w="12700">
            <a:solidFill>
              <a:srgbClr val="DCE6F0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5182819" y="3822192"/>
            <a:ext cx="1795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MAI-Thinking-1</a:t>
            </a:r>
            <a:endParaRPr lang="en-US" sz="1300" dirty="0"/>
          </a:p>
        </p:txBody>
      </p:sp>
      <p:sp>
        <p:nvSpPr>
          <p:cNvPr id="34" name="Text 29"/>
          <p:cNvSpPr/>
          <p:nvPr/>
        </p:nvSpPr>
        <p:spPr>
          <a:xfrm>
            <a:off x="5182819" y="4297680"/>
            <a:ext cx="1795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MAI-Code-1</a:t>
            </a:r>
            <a:endParaRPr lang="en-US" sz="1250" dirty="0"/>
          </a:p>
        </p:txBody>
      </p:sp>
      <p:sp>
        <p:nvSpPr>
          <p:cNvPr id="35" name="Text 30"/>
          <p:cNvSpPr/>
          <p:nvPr/>
        </p:nvSpPr>
        <p:spPr>
          <a:xfrm>
            <a:off x="5182819" y="4773168"/>
            <a:ext cx="1795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MAI-Image-2.5</a:t>
            </a:r>
            <a:endParaRPr lang="en-US" sz="1250" dirty="0"/>
          </a:p>
        </p:txBody>
      </p:sp>
      <p:sp>
        <p:nvSpPr>
          <p:cNvPr id="36" name="Shape 31"/>
          <p:cNvSpPr/>
          <p:nvPr/>
        </p:nvSpPr>
        <p:spPr>
          <a:xfrm>
            <a:off x="7289597" y="1810512"/>
            <a:ext cx="2015338" cy="3703320"/>
          </a:xfrm>
          <a:prstGeom prst="roundRect">
            <a:avLst>
              <a:gd name="adj" fmla="val 3630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7298741" y="1810512"/>
            <a:ext cx="1997050" cy="10972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8" name="Shape 33"/>
          <p:cNvSpPr/>
          <p:nvPr/>
        </p:nvSpPr>
        <p:spPr>
          <a:xfrm>
            <a:off x="7931506" y="2103120"/>
            <a:ext cx="731520" cy="731520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701" y="2293315"/>
            <a:ext cx="351130" cy="351130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289597" y="2926080"/>
            <a:ext cx="2015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Alibaba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289597" y="3273552"/>
            <a:ext cx="2015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</a:t>
            </a:r>
            <a:endParaRPr lang="en-US" sz="1100" dirty="0"/>
          </a:p>
        </p:txBody>
      </p:sp>
      <p:sp>
        <p:nvSpPr>
          <p:cNvPr id="42" name="Shape 36"/>
          <p:cNvSpPr/>
          <p:nvPr/>
        </p:nvSpPr>
        <p:spPr>
          <a:xfrm>
            <a:off x="7701077" y="3639312"/>
            <a:ext cx="1192378" cy="0"/>
          </a:xfrm>
          <a:prstGeom prst="line">
            <a:avLst/>
          </a:prstGeom>
          <a:noFill/>
          <a:ln w="12700">
            <a:solidFill>
              <a:srgbClr val="DCE6F0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7399325" y="3822192"/>
            <a:ext cx="1795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Qwen3.7-Max</a:t>
            </a:r>
            <a:endParaRPr lang="en-US" sz="1300" dirty="0"/>
          </a:p>
        </p:txBody>
      </p:sp>
      <p:sp>
        <p:nvSpPr>
          <p:cNvPr id="44" name="Text 38"/>
          <p:cNvSpPr/>
          <p:nvPr/>
        </p:nvSpPr>
        <p:spPr>
          <a:xfrm>
            <a:off x="7399325" y="4297680"/>
            <a:ext cx="1795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Qwen3.7-Plus</a:t>
            </a:r>
            <a:endParaRPr lang="en-US" sz="1250" dirty="0"/>
          </a:p>
        </p:txBody>
      </p:sp>
      <p:sp>
        <p:nvSpPr>
          <p:cNvPr id="45" name="Text 39"/>
          <p:cNvSpPr/>
          <p:nvPr/>
        </p:nvSpPr>
        <p:spPr>
          <a:xfrm>
            <a:off x="7399325" y="4773168"/>
            <a:ext cx="1795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Qwen3.6</a:t>
            </a:r>
            <a:endParaRPr lang="en-US" sz="1250" dirty="0"/>
          </a:p>
        </p:txBody>
      </p:sp>
      <p:sp>
        <p:nvSpPr>
          <p:cNvPr id="46" name="Shape 40"/>
          <p:cNvSpPr/>
          <p:nvPr/>
        </p:nvSpPr>
        <p:spPr>
          <a:xfrm>
            <a:off x="9506102" y="1810512"/>
            <a:ext cx="2015338" cy="3703320"/>
          </a:xfrm>
          <a:prstGeom prst="roundRect">
            <a:avLst>
              <a:gd name="adj" fmla="val 3630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47" name="Shape 41"/>
          <p:cNvSpPr/>
          <p:nvPr/>
        </p:nvSpPr>
        <p:spPr>
          <a:xfrm>
            <a:off x="9515246" y="1810512"/>
            <a:ext cx="1997050" cy="10972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8" name="Shape 42"/>
          <p:cNvSpPr/>
          <p:nvPr/>
        </p:nvSpPr>
        <p:spPr>
          <a:xfrm>
            <a:off x="10148011" y="2103120"/>
            <a:ext cx="731520" cy="73152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4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8206" y="2293315"/>
            <a:ext cx="351130" cy="351130"/>
          </a:xfrm>
          <a:prstGeom prst="rect">
            <a:avLst/>
          </a:prstGeom>
        </p:spPr>
      </p:pic>
      <p:sp>
        <p:nvSpPr>
          <p:cNvPr id="50" name="Text 43"/>
          <p:cNvSpPr/>
          <p:nvPr/>
        </p:nvSpPr>
        <p:spPr>
          <a:xfrm>
            <a:off x="9506102" y="2926080"/>
            <a:ext cx="2015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Zhipu</a:t>
            </a:r>
            <a:endParaRPr lang="en-US" sz="1700" dirty="0"/>
          </a:p>
        </p:txBody>
      </p:sp>
      <p:sp>
        <p:nvSpPr>
          <p:cNvPr id="51" name="Text 44"/>
          <p:cNvSpPr/>
          <p:nvPr/>
        </p:nvSpPr>
        <p:spPr>
          <a:xfrm>
            <a:off x="9506102" y="3273552"/>
            <a:ext cx="2015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</a:t>
            </a:r>
            <a:endParaRPr lang="en-US" sz="1100" dirty="0"/>
          </a:p>
        </p:txBody>
      </p:sp>
      <p:sp>
        <p:nvSpPr>
          <p:cNvPr id="52" name="Shape 45"/>
          <p:cNvSpPr/>
          <p:nvPr/>
        </p:nvSpPr>
        <p:spPr>
          <a:xfrm>
            <a:off x="9917582" y="3639312"/>
            <a:ext cx="1192378" cy="0"/>
          </a:xfrm>
          <a:prstGeom prst="line">
            <a:avLst/>
          </a:prstGeom>
          <a:noFill/>
          <a:ln w="12700">
            <a:solidFill>
              <a:srgbClr val="DCE6F0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9615830" y="4059936"/>
            <a:ext cx="1795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GLM-5.1</a:t>
            </a:r>
            <a:endParaRPr lang="en-US" sz="1300" dirty="0"/>
          </a:p>
        </p:txBody>
      </p:sp>
      <p:sp>
        <p:nvSpPr>
          <p:cNvPr id="54" name="Text 47"/>
          <p:cNvSpPr/>
          <p:nvPr/>
        </p:nvSpPr>
        <p:spPr>
          <a:xfrm>
            <a:off x="9615830" y="4535424"/>
            <a:ext cx="1795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GLM-5</a:t>
            </a:r>
            <a:endParaRPr lang="en-US" sz="1250" dirty="0"/>
          </a:p>
        </p:txBody>
      </p:sp>
      <p:sp>
        <p:nvSpPr>
          <p:cNvPr id="55" name="Text 48"/>
          <p:cNvSpPr/>
          <p:nvPr/>
        </p:nvSpPr>
        <p:spPr>
          <a:xfrm>
            <a:off x="640080" y="5715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models arrive fast — these are some big names in 2026.</a:t>
            </a:r>
            <a:endParaRPr lang="en-US" sz="1500" dirty="0"/>
          </a:p>
        </p:txBody>
      </p:sp>
      <p:sp>
        <p:nvSpPr>
          <p:cNvPr id="56" name="Text 49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8,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0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75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TYPE INTO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Vibe Coding Tools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463040" y="2560320"/>
            <a:ext cx="1005840" cy="100584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4558" y="2821838"/>
            <a:ext cx="482803" cy="48280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37947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 Code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22960" y="42976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in the terminal.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502152" y="21031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25112" y="2560320"/>
            <a:ext cx="1005840" cy="1005840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630" y="2821838"/>
            <a:ext cx="482803" cy="48280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02152" y="37947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Cursor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3685032" y="42976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smart code editor.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364224" y="21031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187184" y="2560320"/>
            <a:ext cx="1005840" cy="100584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8702" y="2821838"/>
            <a:ext cx="482803" cy="48280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64224" y="37947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Codex</a:t>
            </a:r>
            <a:endParaRPr lang="en-US" sz="1900" dirty="0"/>
          </a:p>
        </p:txBody>
      </p:sp>
      <p:sp>
        <p:nvSpPr>
          <p:cNvPr id="20" name="Text 15"/>
          <p:cNvSpPr/>
          <p:nvPr/>
        </p:nvSpPr>
        <p:spPr>
          <a:xfrm>
            <a:off x="6547104" y="42976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OpenAI's coder.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9226296" y="21031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10049256" y="2560320"/>
            <a:ext cx="1005840" cy="1005840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0774" y="2821838"/>
            <a:ext cx="482803" cy="482803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226296" y="37947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Open Code</a:t>
            </a:r>
            <a:endParaRPr lang="en-US" sz="1900" dirty="0"/>
          </a:p>
        </p:txBody>
      </p:sp>
      <p:sp>
        <p:nvSpPr>
          <p:cNvPr id="25" name="Text 19"/>
          <p:cNvSpPr/>
          <p:nvPr/>
        </p:nvSpPr>
        <p:spPr>
          <a:xfrm>
            <a:off x="9409176" y="42976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and open.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640080" y="5349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idea, </a:t>
            </a:r>
            <a:pPr algn="ctr" indent="0" marL="0">
              <a:buNone/>
            </a:pPr>
            <a:r>
              <a:rPr lang="en-US" sz="1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tools.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8,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75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THIS CLASS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Tool: Cursor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2057400"/>
            <a:ext cx="521208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05840" y="2423160"/>
            <a:ext cx="914400" cy="91440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3584" y="2660904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103120" y="24231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Share accounts</a:t>
            </a:r>
            <a:endParaRPr lang="en-US" sz="2300" dirty="0"/>
          </a:p>
        </p:txBody>
      </p:sp>
      <p:sp>
        <p:nvSpPr>
          <p:cNvPr id="10" name="Text 7"/>
          <p:cNvSpPr/>
          <p:nvPr/>
        </p:nvSpPr>
        <p:spPr>
          <a:xfrm>
            <a:off x="1005840" y="361188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Cursor in class.</a:t>
            </a:r>
            <a:endParaRPr lang="en-US" sz="1700" dirty="0"/>
          </a:p>
          <a:p>
            <a:pPr marL="228600" indent="-2286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students share 1 login.</a:t>
            </a:r>
            <a:endParaRPr lang="en-US" sz="1700" dirty="0"/>
          </a:p>
          <a:p>
            <a:pPr marL="228600" indent="-2286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3 class logins.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309360" y="2057400"/>
            <a:ext cx="5212080" cy="3611880"/>
          </a:xfrm>
          <a:prstGeom prst="roundRect">
            <a:avLst>
              <a:gd name="adj" fmla="val 2025"/>
            </a:avLst>
          </a:prstGeom>
          <a:solidFill>
            <a:srgbClr val="E6F2FB"/>
          </a:solidFill>
          <a:ln/>
        </p:spPr>
      </p:sp>
      <p:sp>
        <p:nvSpPr>
          <p:cNvPr id="12" name="Shape 9"/>
          <p:cNvSpPr/>
          <p:nvPr/>
        </p:nvSpPr>
        <p:spPr>
          <a:xfrm>
            <a:off x="6675120" y="2377440"/>
            <a:ext cx="640080" cy="640080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568" y="2532888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98080" y="2377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Class logins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6675120" y="3291840"/>
            <a:ext cx="448056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949440" y="32918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dazelu20@gmail.com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6675120" y="4023360"/>
            <a:ext cx="448056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949440" y="40233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daze.lu23@gmail.com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675120" y="4754880"/>
            <a:ext cx="448056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949440" y="475488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unlvcoding@gmail.com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which login to use.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8,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75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CONTROL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Git?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3657600" cy="3657600"/>
          </a:xfrm>
          <a:prstGeom prst="roundRect">
            <a:avLst>
              <a:gd name="adj" fmla="val 2000"/>
            </a:avLst>
          </a:prstGeom>
          <a:solidFill>
            <a:srgbClr val="E6F2FB"/>
          </a:solidFill>
          <a:ln/>
        </p:spPr>
      </p:sp>
      <p:sp>
        <p:nvSpPr>
          <p:cNvPr id="7" name="Shape 5"/>
          <p:cNvSpPr/>
          <p:nvPr/>
        </p:nvSpPr>
        <p:spPr>
          <a:xfrm>
            <a:off x="1783080" y="2377440"/>
            <a:ext cx="1371600" cy="1371600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9696" y="2734056"/>
            <a:ext cx="658368" cy="6583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38862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time machine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for your code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4617720" y="2011680"/>
            <a:ext cx="7178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37176" y="2194560"/>
            <a:ext cx="457200" cy="45720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231343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86400" y="2121408"/>
            <a:ext cx="6080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Saves every version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5486400" y="2450592"/>
            <a:ext cx="6080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“commit” is a snapshot you can keep.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617720" y="2926080"/>
            <a:ext cx="7178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837176" y="3108960"/>
            <a:ext cx="457200" cy="457200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8" y="3227832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486400" y="3035808"/>
            <a:ext cx="6080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 back anytime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5486400" y="3364992"/>
            <a:ext cx="6080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broke? Return to a good one.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4617720" y="3840480"/>
            <a:ext cx="7178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837176" y="4023360"/>
            <a:ext cx="457200" cy="45720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6048" y="4142232"/>
            <a:ext cx="219456" cy="2194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486400" y="3950208"/>
            <a:ext cx="6080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Try ideas safely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5486400" y="4279392"/>
            <a:ext cx="6080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 a branch, then merge if it works.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4617720" y="4754880"/>
            <a:ext cx="7178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837176" y="4937760"/>
            <a:ext cx="457200" cy="457200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6048" y="5056632"/>
            <a:ext cx="219456" cy="21945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486400" y="4864608"/>
            <a:ext cx="6080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Share online</a:t>
            </a:r>
            <a:endParaRPr lang="en-US" sz="1500" dirty="0"/>
          </a:p>
        </p:txBody>
      </p:sp>
      <p:sp>
        <p:nvSpPr>
          <p:cNvPr id="29" name="Text 22"/>
          <p:cNvSpPr/>
          <p:nvPr/>
        </p:nvSpPr>
        <p:spPr>
          <a:xfrm>
            <a:off x="5486400" y="5193792"/>
            <a:ext cx="6080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to GitHub so others &amp; AI can see it.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4617720" y="5760720"/>
            <a:ext cx="7178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Golden rule:  </a:t>
            </a:r>
            <a:pPr algn="ctr" indent="0" marL="0">
              <a:buNone/>
            </a:pPr>
            <a:r>
              <a:rPr lang="en-US" sz="16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early, commit often.</a:t>
            </a:r>
            <a:endParaRPr lang="en-US" sz="1600" dirty="0"/>
          </a:p>
        </p:txBody>
      </p:sp>
      <p:sp>
        <p:nvSpPr>
          <p:cNvPr id="31" name="Text 24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8,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75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BASICS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Git: Common Commands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5303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86384" y="2020824"/>
            <a:ext cx="2331720" cy="420624"/>
          </a:xfrm>
          <a:prstGeom prst="roundRect">
            <a:avLst>
              <a:gd name="adj" fmla="val 8696"/>
            </a:avLst>
          </a:prstGeom>
          <a:solidFill>
            <a:srgbClr val="EEF4FA"/>
          </a:solidFill>
          <a:ln w="12700">
            <a:solidFill>
              <a:srgbClr val="DCE6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02082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init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91840" y="1874520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tracking a folder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697480"/>
            <a:ext cx="5303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86384" y="2843784"/>
            <a:ext cx="2331720" cy="420624"/>
          </a:xfrm>
          <a:prstGeom prst="roundRect">
            <a:avLst>
              <a:gd name="adj" fmla="val 8696"/>
            </a:avLst>
          </a:prstGeom>
          <a:solidFill>
            <a:srgbClr val="EEF4FA"/>
          </a:solidFill>
          <a:ln w="12700">
            <a:solidFill>
              <a:srgbClr val="DCE6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284378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&lt;url&gt;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91840" y="2697480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a project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520440"/>
            <a:ext cx="5303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86384" y="3666744"/>
            <a:ext cx="2331720" cy="420624"/>
          </a:xfrm>
          <a:prstGeom prst="roundRect">
            <a:avLst>
              <a:gd name="adj" fmla="val 8696"/>
            </a:avLst>
          </a:prstGeom>
          <a:solidFill>
            <a:srgbClr val="EEF4FA"/>
          </a:solidFill>
          <a:ln w="12700">
            <a:solidFill>
              <a:srgbClr val="DCE6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366674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status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291840" y="3520440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what changed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4343400"/>
            <a:ext cx="5303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86384" y="4489704"/>
            <a:ext cx="2331720" cy="420624"/>
          </a:xfrm>
          <a:prstGeom prst="roundRect">
            <a:avLst>
              <a:gd name="adj" fmla="val 8696"/>
            </a:avLst>
          </a:prstGeom>
          <a:solidFill>
            <a:srgbClr val="EEF4FA"/>
          </a:solidFill>
          <a:ln w="12700">
            <a:solidFill>
              <a:srgbClr val="DCE6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448970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91840" y="4343400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your changes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5166360"/>
            <a:ext cx="5303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86384" y="5312664"/>
            <a:ext cx="2331720" cy="420624"/>
          </a:xfrm>
          <a:prstGeom prst="roundRect">
            <a:avLst>
              <a:gd name="adj" fmla="val 8696"/>
            </a:avLst>
          </a:prstGeom>
          <a:solidFill>
            <a:srgbClr val="EEF4FA"/>
          </a:solidFill>
          <a:ln w="12700">
            <a:solidFill>
              <a:srgbClr val="DCE6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6112" y="531266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"msg"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91840" y="5166360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 version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217920" y="1874520"/>
            <a:ext cx="5303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364224" y="2020824"/>
            <a:ext cx="2331720" cy="420624"/>
          </a:xfrm>
          <a:prstGeom prst="roundRect">
            <a:avLst>
              <a:gd name="adj" fmla="val 8696"/>
            </a:avLst>
          </a:prstGeom>
          <a:solidFill>
            <a:srgbClr val="EEF4FA"/>
          </a:solidFill>
          <a:ln w="12700">
            <a:solidFill>
              <a:srgbClr val="DCE6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3952" y="202082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869680" y="1874520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to GitHub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217920" y="2697480"/>
            <a:ext cx="5303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364224" y="2843784"/>
            <a:ext cx="2331720" cy="420624"/>
          </a:xfrm>
          <a:prstGeom prst="roundRect">
            <a:avLst>
              <a:gd name="adj" fmla="val 8696"/>
            </a:avLst>
          </a:prstGeom>
          <a:solidFill>
            <a:srgbClr val="EEF4FA"/>
          </a:solidFill>
          <a:ln w="12700">
            <a:solidFill>
              <a:srgbClr val="DCE6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73952" y="284378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pull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869680" y="2697480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latest changes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3520440"/>
            <a:ext cx="5303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364224" y="3666744"/>
            <a:ext cx="2331720" cy="420624"/>
          </a:xfrm>
          <a:prstGeom prst="roundRect">
            <a:avLst>
              <a:gd name="adj" fmla="val 8696"/>
            </a:avLst>
          </a:prstGeom>
          <a:solidFill>
            <a:srgbClr val="EEF4FA"/>
          </a:solidFill>
          <a:ln w="12700">
            <a:solidFill>
              <a:srgbClr val="DCE6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73952" y="366674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869680" y="3520440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history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217920" y="4343400"/>
            <a:ext cx="5303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364224" y="4489704"/>
            <a:ext cx="2331720" cy="420624"/>
          </a:xfrm>
          <a:prstGeom prst="roundRect">
            <a:avLst>
              <a:gd name="adj" fmla="val 8696"/>
            </a:avLst>
          </a:prstGeom>
          <a:solidFill>
            <a:srgbClr val="EEF4FA"/>
          </a:solidFill>
          <a:ln w="12700">
            <a:solidFill>
              <a:srgbClr val="DCE6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73952" y="448970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869680" y="4343400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new line of work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6217920" y="5166360"/>
            <a:ext cx="5303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364224" y="5312664"/>
            <a:ext cx="2331720" cy="420624"/>
          </a:xfrm>
          <a:prstGeom prst="roundRect">
            <a:avLst>
              <a:gd name="adj" fmla="val 8696"/>
            </a:avLst>
          </a:prstGeom>
          <a:solidFill>
            <a:srgbClr val="EEF4FA"/>
          </a:solidFill>
          <a:ln w="12700">
            <a:solidFill>
              <a:srgbClr val="DCE6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73952" y="531266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checkout -b new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869680" y="5166360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&amp; switch branch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Tip:  </a:t>
            </a:r>
            <a:pPr algn="ctr" indent="0" marL="0">
              <a:buNone/>
            </a:pPr>
            <a:r>
              <a:rPr lang="en-US" sz="1500" b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a clear message — what you changed and why.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8,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0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75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LOCAL TO REMOTE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Push Your Project to GitHub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755648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86384" y="1837944"/>
            <a:ext cx="384048" cy="384048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371600" y="1847088"/>
            <a:ext cx="4297680" cy="365760"/>
          </a:xfrm>
          <a:prstGeom prst="roundRect">
            <a:avLst>
              <a:gd name="adj" fmla="val 12500"/>
            </a:avLst>
          </a:prstGeom>
          <a:solidFill>
            <a:srgbClr val="EEF4FA"/>
          </a:solidFill>
          <a:ln w="12700">
            <a:solidFill>
              <a:srgbClr val="DCE6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08760" y="18470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init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852160" y="175564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Git in your project folder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382012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86384" y="2464308"/>
            <a:ext cx="384048" cy="384048"/>
          </a:xfrm>
          <a:prstGeom prst="ellipse">
            <a:avLst/>
          </a:prstGeom>
          <a:solidFill>
            <a:srgbClr val="0F2740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2464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1371600" y="2473452"/>
            <a:ext cx="9921240" cy="365760"/>
          </a:xfrm>
          <a:prstGeom prst="roundRect">
            <a:avLst>
              <a:gd name="adj" fmla="val 12500"/>
            </a:avLst>
          </a:prstGeom>
          <a:solidFill>
            <a:srgbClr val="FFF2E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554480" y="247345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GitHub: make an empty repo, copy its link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3008376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86384" y="3090672"/>
            <a:ext cx="384048" cy="384048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1371600" y="3099816"/>
            <a:ext cx="4297680" cy="365760"/>
          </a:xfrm>
          <a:prstGeom prst="roundRect">
            <a:avLst>
              <a:gd name="adj" fmla="val 12500"/>
            </a:avLst>
          </a:prstGeom>
          <a:solidFill>
            <a:srgbClr val="EEF4FA"/>
          </a:solidFill>
          <a:ln w="12700">
            <a:solidFill>
              <a:srgbClr val="DCE6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08760" y="30998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remote add origin &lt;url&gt;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52160" y="300837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your folder to GitHub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3634740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86384" y="3717036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37170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1371600" y="3726180"/>
            <a:ext cx="4297680" cy="365760"/>
          </a:xfrm>
          <a:prstGeom prst="roundRect">
            <a:avLst>
              <a:gd name="adj" fmla="val 12500"/>
            </a:avLst>
          </a:prstGeom>
          <a:solidFill>
            <a:srgbClr val="EEF4FA"/>
          </a:solidFill>
          <a:ln w="12700">
            <a:solidFill>
              <a:srgbClr val="DCE6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508760" y="37261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852160" y="363474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all your changes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40080" y="4261104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86384" y="4343400"/>
            <a:ext cx="384048" cy="384048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31" name="Text 29"/>
          <p:cNvSpPr/>
          <p:nvPr/>
        </p:nvSpPr>
        <p:spPr>
          <a:xfrm>
            <a:off x="786384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1371600" y="4352544"/>
            <a:ext cx="4297680" cy="365760"/>
          </a:xfrm>
          <a:prstGeom prst="roundRect">
            <a:avLst>
              <a:gd name="adj" fmla="val 12500"/>
            </a:avLst>
          </a:prstGeom>
          <a:solidFill>
            <a:srgbClr val="EEF4FA"/>
          </a:solidFill>
          <a:ln w="12700">
            <a:solidFill>
              <a:srgbClr val="DCE6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508760" y="435254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"initial commit"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852160" y="4261104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this version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40080" y="4887468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86384" y="4969764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37" name="Text 35"/>
          <p:cNvSpPr/>
          <p:nvPr/>
        </p:nvSpPr>
        <p:spPr>
          <a:xfrm>
            <a:off x="786384" y="49697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1371600" y="4978908"/>
            <a:ext cx="4297680" cy="365760"/>
          </a:xfrm>
          <a:prstGeom prst="roundRect">
            <a:avLst>
              <a:gd name="adj" fmla="val 12500"/>
            </a:avLst>
          </a:prstGeom>
          <a:solidFill>
            <a:srgbClr val="EEF4FA"/>
          </a:solidFill>
          <a:ln w="12700">
            <a:solidFill>
              <a:srgbClr val="DCE6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508760" y="49789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-u origin main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852160" y="488746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it to GitHub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40080" y="5650992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that, every change is just:  </a:t>
            </a:r>
            <a:pPr algn="ctr" indent="0" marL="0">
              <a:buNone/>
            </a:pPr>
            <a:r>
              <a:rPr lang="en-US" sz="145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→ add → commit → push.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640080" y="5870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Reference: Vibe Coding book  ·  Chapter 9 (Web Development)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8,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grpId="6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75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THE BLOG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Install Your Tools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2011680"/>
            <a:ext cx="3502152" cy="12801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Shape 6"/>
          <p:cNvSpPr/>
          <p:nvPr/>
        </p:nvSpPr>
        <p:spPr>
          <a:xfrm>
            <a:off x="1805940" y="2514600"/>
            <a:ext cx="1188720" cy="1188720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5007" y="2823667"/>
            <a:ext cx="570586" cy="57058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38404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Git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914400" y="43434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versions &amp;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Git Bash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1097280" y="4892040"/>
            <a:ext cx="2606040" cy="365760"/>
          </a:xfrm>
          <a:prstGeom prst="roundRect">
            <a:avLst>
              <a:gd name="adj" fmla="val 12500"/>
            </a:avLst>
          </a:prstGeom>
          <a:solidFill>
            <a:srgbClr val="EEF4FA"/>
          </a:solidFill>
          <a:ln/>
        </p:spPr>
      </p:sp>
      <p:sp>
        <p:nvSpPr>
          <p:cNvPr id="13" name="Text 10"/>
          <p:cNvSpPr/>
          <p:nvPr/>
        </p:nvSpPr>
        <p:spPr>
          <a:xfrm>
            <a:off x="1097280" y="48920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git-scm.com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462272" y="201168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471416" y="2011680"/>
            <a:ext cx="3502152" cy="12801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6" name="Shape 13"/>
          <p:cNvSpPr/>
          <p:nvPr/>
        </p:nvSpPr>
        <p:spPr>
          <a:xfrm>
            <a:off x="5628132" y="2514600"/>
            <a:ext cx="1188720" cy="118872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7199" y="2823667"/>
            <a:ext cx="570586" cy="57058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462272" y="38404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Node.js (LTS)</a:t>
            </a:r>
            <a:endParaRPr lang="en-US" sz="2100" dirty="0"/>
          </a:p>
        </p:txBody>
      </p:sp>
      <p:sp>
        <p:nvSpPr>
          <p:cNvPr id="19" name="Text 15"/>
          <p:cNvSpPr/>
          <p:nvPr/>
        </p:nvSpPr>
        <p:spPr>
          <a:xfrm>
            <a:off x="4736592" y="43434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your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code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4919472" y="4892040"/>
            <a:ext cx="2606040" cy="365760"/>
          </a:xfrm>
          <a:prstGeom prst="roundRect">
            <a:avLst>
              <a:gd name="adj" fmla="val 12500"/>
            </a:avLst>
          </a:prstGeom>
          <a:solidFill>
            <a:srgbClr val="EEF4FA"/>
          </a:solidFill>
          <a:ln/>
        </p:spPr>
      </p:sp>
      <p:sp>
        <p:nvSpPr>
          <p:cNvPr id="21" name="Text 17"/>
          <p:cNvSpPr/>
          <p:nvPr/>
        </p:nvSpPr>
        <p:spPr>
          <a:xfrm>
            <a:off x="4919472" y="48920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nodejs.org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8284464" y="201168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293608" y="2011680"/>
            <a:ext cx="3502152" cy="12801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Shape 20"/>
          <p:cNvSpPr/>
          <p:nvPr/>
        </p:nvSpPr>
        <p:spPr>
          <a:xfrm>
            <a:off x="9450324" y="2514600"/>
            <a:ext cx="1188720" cy="1188720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9391" y="2823667"/>
            <a:ext cx="570586" cy="570586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8284464" y="38404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VS Code / Cursor</a:t>
            </a:r>
            <a:endParaRPr lang="en-US" sz="2100" dirty="0"/>
          </a:p>
        </p:txBody>
      </p:sp>
      <p:sp>
        <p:nvSpPr>
          <p:cNvPr id="27" name="Text 22"/>
          <p:cNvSpPr/>
          <p:nvPr/>
        </p:nvSpPr>
        <p:spPr>
          <a:xfrm>
            <a:off x="8558784" y="43434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code</a:t>
            </a:r>
            <a:endParaRPr lang="en-US" sz="1400" dirty="0"/>
          </a:p>
        </p:txBody>
      </p:sp>
      <p:sp>
        <p:nvSpPr>
          <p:cNvPr id="28" name="Shape 23"/>
          <p:cNvSpPr/>
          <p:nvPr/>
        </p:nvSpPr>
        <p:spPr>
          <a:xfrm>
            <a:off x="8741664" y="4892040"/>
            <a:ext cx="2606040" cy="365760"/>
          </a:xfrm>
          <a:prstGeom prst="roundRect">
            <a:avLst>
              <a:gd name="adj" fmla="val 12500"/>
            </a:avLst>
          </a:prstGeom>
          <a:solidFill>
            <a:srgbClr val="EEF4FA"/>
          </a:solidFill>
          <a:ln/>
        </p:spPr>
      </p:sp>
      <p:sp>
        <p:nvSpPr>
          <p:cNvPr id="29" name="Text 24"/>
          <p:cNvSpPr/>
          <p:nvPr/>
        </p:nvSpPr>
        <p:spPr>
          <a:xfrm>
            <a:off x="8741664" y="48920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code.visualstudio.com</a:t>
            </a:r>
            <a:endParaRPr lang="en-US" sz="1150" dirty="0"/>
          </a:p>
        </p:txBody>
      </p:sp>
      <p:sp>
        <p:nvSpPr>
          <p:cNvPr id="30" name="Text 25"/>
          <p:cNvSpPr/>
          <p:nvPr/>
        </p:nvSpPr>
        <p:spPr>
          <a:xfrm>
            <a:off x="640080" y="550468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Windows.  </a:t>
            </a:r>
            <a:pPr algn="ctr" indent="0" marL="0">
              <a:buNone/>
            </a:pPr>
            <a:r>
              <a:rPr lang="en-US" sz="1500" b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install Node.js by unzipping it and adding the folder to PATH.</a:t>
            </a:r>
            <a:endParaRPr lang="en-US" sz="1500" dirty="0"/>
          </a:p>
        </p:txBody>
      </p:sp>
      <p:sp>
        <p:nvSpPr>
          <p:cNvPr id="31" name="Text 26"/>
          <p:cNvSpPr/>
          <p:nvPr/>
        </p:nvSpPr>
        <p:spPr>
          <a:xfrm>
            <a:off x="640080" y="5870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Reference: Vibe Coding book  ·  Chapter 7 (Environment Setup)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8,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75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STEP-BY-STEP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Install Git (Windows)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474720" cy="3950208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1984248"/>
            <a:ext cx="475488" cy="475488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984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389888" y="1929384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Download from git-scm.com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41248" y="2651760"/>
            <a:ext cx="3072384" cy="2898648"/>
          </a:xfrm>
          <a:prstGeom prst="roundRect">
            <a:avLst>
              <a:gd name="adj" fmla="val 1577"/>
            </a:avLst>
          </a:prstGeom>
          <a:solidFill>
            <a:srgbClr val="F4F8FC"/>
          </a:solidFill>
          <a:ln w="12700">
            <a:solidFill>
              <a:srgbClr val="DCE6F0"/>
            </a:solidFill>
            <a:prstDash val="solid"/>
          </a:ln>
        </p:spPr>
      </p:sp>
      <p:pic>
        <p:nvPicPr>
          <p:cNvPr id="11" name="Image 0" descr="bookimg/use_git_d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3326418"/>
            <a:ext cx="2889504" cy="1549332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4343400" y="1783080"/>
            <a:ext cx="3474720" cy="3950208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26280" y="1984248"/>
            <a:ext cx="475488" cy="475488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1"/>
          <p:cNvSpPr/>
          <p:nvPr/>
        </p:nvSpPr>
        <p:spPr>
          <a:xfrm>
            <a:off x="4526280" y="1984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5093208" y="1929384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Check all parts, click Next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4544568" y="2651760"/>
            <a:ext cx="3072384" cy="2898648"/>
          </a:xfrm>
          <a:prstGeom prst="roundRect">
            <a:avLst>
              <a:gd name="adj" fmla="val 1577"/>
            </a:avLst>
          </a:prstGeom>
          <a:solidFill>
            <a:srgbClr val="F4F8FC"/>
          </a:solidFill>
          <a:ln w="12700">
            <a:solidFill>
              <a:srgbClr val="DCE6F0"/>
            </a:solidFill>
            <a:prstDash val="solid"/>
          </a:ln>
        </p:spPr>
      </p:sp>
      <p:pic>
        <p:nvPicPr>
          <p:cNvPr id="17" name="Image 1" descr="bookimg/use_git_co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3174367"/>
            <a:ext cx="2889504" cy="1853434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8046720" y="1783080"/>
            <a:ext cx="3474720" cy="3950208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0" y="1984248"/>
            <a:ext cx="475488" cy="475488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0" name="Text 16"/>
          <p:cNvSpPr/>
          <p:nvPr/>
        </p:nvSpPr>
        <p:spPr>
          <a:xfrm>
            <a:off x="8229600" y="1984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7"/>
          <p:cNvSpPr/>
          <p:nvPr/>
        </p:nvSpPr>
        <p:spPr>
          <a:xfrm>
            <a:off x="8796528" y="1929384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Run  git --version  to check</a:t>
            </a:r>
            <a:endParaRPr lang="en-US" sz="1350" dirty="0"/>
          </a:p>
        </p:txBody>
      </p:sp>
      <p:sp>
        <p:nvSpPr>
          <p:cNvPr id="22" name="Shape 18"/>
          <p:cNvSpPr/>
          <p:nvPr/>
        </p:nvSpPr>
        <p:spPr>
          <a:xfrm>
            <a:off x="8247888" y="2651760"/>
            <a:ext cx="3072384" cy="2898648"/>
          </a:xfrm>
          <a:prstGeom prst="roundRect">
            <a:avLst>
              <a:gd name="adj" fmla="val 1577"/>
            </a:avLst>
          </a:prstGeom>
          <a:solidFill>
            <a:srgbClr val="F4F8FC"/>
          </a:solidFill>
          <a:ln w="12700">
            <a:solidFill>
              <a:srgbClr val="DCE6F0"/>
            </a:solidFill>
            <a:prstDash val="solid"/>
          </a:ln>
        </p:spPr>
      </p:sp>
      <p:pic>
        <p:nvPicPr>
          <p:cNvPr id="23" name="Image 2" descr="bookimg/use_git_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3400088"/>
            <a:ext cx="2889504" cy="1401991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40080" y="5870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Reference: Vibe Coding book  ·  Chapter 7 (Environment Setup)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8,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75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STEP-BY-STEP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Install Node.js (Windows)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2548890" cy="3950208"/>
          </a:xfrm>
          <a:prstGeom prst="roundRect">
            <a:avLst>
              <a:gd name="adj" fmla="val 2870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1984248"/>
            <a:ext cx="475488" cy="475488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984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389888" y="1929384"/>
            <a:ext cx="16344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Download the LTS .zip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41248" y="2651760"/>
            <a:ext cx="2146554" cy="2898648"/>
          </a:xfrm>
          <a:prstGeom prst="roundRect">
            <a:avLst>
              <a:gd name="adj" fmla="val 2130"/>
            </a:avLst>
          </a:prstGeom>
          <a:solidFill>
            <a:srgbClr val="F4F8FC"/>
          </a:solidFill>
          <a:ln w="12700">
            <a:solidFill>
              <a:srgbClr val="DCE6F0"/>
            </a:solidFill>
            <a:prstDash val="solid"/>
          </a:ln>
        </p:spPr>
      </p:sp>
      <p:pic>
        <p:nvPicPr>
          <p:cNvPr id="11" name="Image 0" descr="bookimg/use_node_d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3499837"/>
            <a:ext cx="1963674" cy="1202495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3417570" y="1783080"/>
            <a:ext cx="2548890" cy="3950208"/>
          </a:xfrm>
          <a:prstGeom prst="roundRect">
            <a:avLst>
              <a:gd name="adj" fmla="val 2870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600450" y="1984248"/>
            <a:ext cx="475488" cy="475488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1"/>
          <p:cNvSpPr/>
          <p:nvPr/>
        </p:nvSpPr>
        <p:spPr>
          <a:xfrm>
            <a:off x="3600450" y="1984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167378" y="1929384"/>
            <a:ext cx="16344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Unzip to a folder (D:\nodejs)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618738" y="2651760"/>
            <a:ext cx="2146554" cy="2898648"/>
          </a:xfrm>
          <a:prstGeom prst="roundRect">
            <a:avLst>
              <a:gd name="adj" fmla="val 2130"/>
            </a:avLst>
          </a:prstGeom>
          <a:solidFill>
            <a:srgbClr val="F4F8FC"/>
          </a:solidFill>
          <a:ln w="12700">
            <a:solidFill>
              <a:srgbClr val="DCE6F0"/>
            </a:solidFill>
            <a:prstDash val="solid"/>
          </a:ln>
        </p:spPr>
      </p:sp>
      <p:pic>
        <p:nvPicPr>
          <p:cNvPr id="17" name="Image 1" descr="bookimg/use_node_extra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178" y="3356139"/>
            <a:ext cx="1963674" cy="1489889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195060" y="1783080"/>
            <a:ext cx="2548890" cy="3950208"/>
          </a:xfrm>
          <a:prstGeom prst="roundRect">
            <a:avLst>
              <a:gd name="adj" fmla="val 2870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77940" y="1984248"/>
            <a:ext cx="475488" cy="475488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0" name="Text 16"/>
          <p:cNvSpPr/>
          <p:nvPr/>
        </p:nvSpPr>
        <p:spPr>
          <a:xfrm>
            <a:off x="6377940" y="1984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7"/>
          <p:cNvSpPr/>
          <p:nvPr/>
        </p:nvSpPr>
        <p:spPr>
          <a:xfrm>
            <a:off x="6944868" y="1929384"/>
            <a:ext cx="16344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Add the folder to PATH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396228" y="2651760"/>
            <a:ext cx="2146554" cy="2898648"/>
          </a:xfrm>
          <a:prstGeom prst="roundRect">
            <a:avLst>
              <a:gd name="adj" fmla="val 2130"/>
            </a:avLst>
          </a:prstGeom>
          <a:solidFill>
            <a:srgbClr val="F4F8FC"/>
          </a:solidFill>
          <a:ln w="12700">
            <a:solidFill>
              <a:srgbClr val="DCE6F0"/>
            </a:solidFill>
            <a:prstDash val="solid"/>
          </a:ln>
        </p:spPr>
      </p:sp>
      <p:pic>
        <p:nvPicPr>
          <p:cNvPr id="23" name="Image 2" descr="bookimg/use_node_pat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7668" y="3163322"/>
            <a:ext cx="1963674" cy="1875524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972550" y="1783080"/>
            <a:ext cx="2548890" cy="3950208"/>
          </a:xfrm>
          <a:prstGeom prst="roundRect">
            <a:avLst>
              <a:gd name="adj" fmla="val 2870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9155430" y="1984248"/>
            <a:ext cx="475488" cy="475488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6" name="Text 21"/>
          <p:cNvSpPr/>
          <p:nvPr/>
        </p:nvSpPr>
        <p:spPr>
          <a:xfrm>
            <a:off x="9155430" y="1984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700" dirty="0"/>
          </a:p>
        </p:txBody>
      </p:sp>
      <p:sp>
        <p:nvSpPr>
          <p:cNvPr id="27" name="Text 22"/>
          <p:cNvSpPr/>
          <p:nvPr/>
        </p:nvSpPr>
        <p:spPr>
          <a:xfrm>
            <a:off x="9722358" y="1929384"/>
            <a:ext cx="16344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Run  node -v  and  npm -v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9173718" y="2651760"/>
            <a:ext cx="2146554" cy="2898648"/>
          </a:xfrm>
          <a:prstGeom prst="roundRect">
            <a:avLst>
              <a:gd name="adj" fmla="val 2130"/>
            </a:avLst>
          </a:prstGeom>
          <a:solidFill>
            <a:srgbClr val="F4F8FC"/>
          </a:solidFill>
          <a:ln w="12700">
            <a:solidFill>
              <a:srgbClr val="DCE6F0"/>
            </a:solidFill>
            <a:prstDash val="solid"/>
          </a:ln>
        </p:spPr>
      </p:sp>
      <p:pic>
        <p:nvPicPr>
          <p:cNvPr id="29" name="Image 3" descr="bookimg/use_node_o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5158" y="3648625"/>
            <a:ext cx="1963674" cy="904919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640080" y="5870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Reference: Vibe Coding book  ·  Chapter 7 (Environment Setup)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8,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75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BUILD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Plan Your Blog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205740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350008"/>
            <a:ext cx="914400" cy="91440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144" y="2587752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965960" y="237744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Sign up &amp; Log in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914400" y="313639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personal account.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462272" y="205740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36592" y="2350008"/>
            <a:ext cx="914400" cy="914400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2587752"/>
            <a:ext cx="438912" cy="4389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788152" y="237744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Log out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4736592" y="313639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your account safely.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8284464" y="205740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558784" y="2350008"/>
            <a:ext cx="914400" cy="91440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28" y="2587752"/>
            <a:ext cx="438912" cy="43891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610344" y="237744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Show posts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8558784" y="313639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all posts on the home page.</a:t>
            </a:r>
            <a:endParaRPr lang="en-US" sz="1350" dirty="0"/>
          </a:p>
        </p:txBody>
      </p:sp>
      <p:sp>
        <p:nvSpPr>
          <p:cNvPr id="21" name="Shape 16"/>
          <p:cNvSpPr/>
          <p:nvPr/>
        </p:nvSpPr>
        <p:spPr>
          <a:xfrm>
            <a:off x="640080" y="384048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914400" y="4133088"/>
            <a:ext cx="914400" cy="914400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2144" y="4370832"/>
            <a:ext cx="438912" cy="43891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965960" y="41605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Write &amp; edit</a:t>
            </a:r>
            <a:endParaRPr lang="en-US" sz="1700" dirty="0"/>
          </a:p>
        </p:txBody>
      </p:sp>
      <p:sp>
        <p:nvSpPr>
          <p:cNvPr id="25" name="Text 19"/>
          <p:cNvSpPr/>
          <p:nvPr/>
        </p:nvSpPr>
        <p:spPr>
          <a:xfrm>
            <a:off x="914400" y="491947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Create, edit, and delete posts.</a:t>
            </a:r>
            <a:endParaRPr lang="en-US" sz="1350" dirty="0"/>
          </a:p>
        </p:txBody>
      </p:sp>
      <p:sp>
        <p:nvSpPr>
          <p:cNvPr id="26" name="Shape 20"/>
          <p:cNvSpPr/>
          <p:nvPr/>
        </p:nvSpPr>
        <p:spPr>
          <a:xfrm>
            <a:off x="4462272" y="384048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4736592" y="4133088"/>
            <a:ext cx="914400" cy="91440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4336" y="4370832"/>
            <a:ext cx="438912" cy="43891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788152" y="41605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Light / Dark</a:t>
            </a:r>
            <a:endParaRPr lang="en-US" sz="1700" dirty="0"/>
          </a:p>
        </p:txBody>
      </p:sp>
      <p:sp>
        <p:nvSpPr>
          <p:cNvPr id="30" name="Text 23"/>
          <p:cNvSpPr/>
          <p:nvPr/>
        </p:nvSpPr>
        <p:spPr>
          <a:xfrm>
            <a:off x="4736592" y="491947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the page theme.</a:t>
            </a:r>
            <a:endParaRPr lang="en-US" sz="1350" dirty="0"/>
          </a:p>
        </p:txBody>
      </p:sp>
      <p:sp>
        <p:nvSpPr>
          <p:cNvPr id="31" name="Shape 24"/>
          <p:cNvSpPr/>
          <p:nvPr/>
        </p:nvSpPr>
        <p:spPr>
          <a:xfrm>
            <a:off x="8284464" y="384048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8558784" y="4133088"/>
            <a:ext cx="914400" cy="914400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96528" y="4370832"/>
            <a:ext cx="438912" cy="438912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9610344" y="41605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Likes &amp; comments</a:t>
            </a:r>
            <a:endParaRPr lang="en-US" sz="1700" dirty="0"/>
          </a:p>
        </p:txBody>
      </p:sp>
      <p:sp>
        <p:nvSpPr>
          <p:cNvPr id="35" name="Text 27"/>
          <p:cNvSpPr/>
          <p:nvPr/>
        </p:nvSpPr>
        <p:spPr>
          <a:xfrm>
            <a:off x="8558784" y="491947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React, comment, and search.</a:t>
            </a:r>
            <a:endParaRPr lang="en-US" sz="1350" dirty="0"/>
          </a:p>
        </p:txBody>
      </p:sp>
      <p:sp>
        <p:nvSpPr>
          <p:cNvPr id="36" name="Text 28"/>
          <p:cNvSpPr/>
          <p:nvPr/>
        </p:nvSpPr>
        <p:spPr>
          <a:xfrm>
            <a:off x="640080" y="5870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Reference: Vibe Coding book  ·  Chapter 9 (Web Development)</a:t>
            </a:r>
            <a:endParaRPr lang="en-US" sz="1200" dirty="0"/>
          </a:p>
        </p:txBody>
      </p:sp>
      <p:sp>
        <p:nvSpPr>
          <p:cNvPr id="37" name="Text 29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8,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grpId="6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75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LANGUAGES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Pick Your Tools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352044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2011680"/>
            <a:ext cx="3502152" cy="12801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Shape 6"/>
          <p:cNvSpPr/>
          <p:nvPr/>
        </p:nvSpPr>
        <p:spPr>
          <a:xfrm>
            <a:off x="960120" y="2468880"/>
            <a:ext cx="1051560" cy="105156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3526" y="2742286"/>
            <a:ext cx="504749" cy="50474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37033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60120" y="395020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React or Vue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960120" y="448056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look: pages,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buttons, themes.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462272" y="2011680"/>
            <a:ext cx="352044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471416" y="2011680"/>
            <a:ext cx="3502152" cy="12801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5" name="Shape 12"/>
          <p:cNvSpPr/>
          <p:nvPr/>
        </p:nvSpPr>
        <p:spPr>
          <a:xfrm>
            <a:off x="6565392" y="2304288"/>
            <a:ext cx="1188720" cy="365760"/>
          </a:xfrm>
          <a:prstGeom prst="roundRect">
            <a:avLst>
              <a:gd name="adj" fmla="val 15000"/>
            </a:avLst>
          </a:prstGeom>
          <a:solidFill>
            <a:srgbClr val="FFF2E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65392" y="230428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782312" y="2468880"/>
            <a:ext cx="1051560" cy="1051560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5718" y="2742286"/>
            <a:ext cx="504749" cy="504749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782312" y="37033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782312" y="395020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Flask (Python)</a:t>
            </a:r>
            <a:endParaRPr lang="en-US" sz="2000" dirty="0"/>
          </a:p>
        </p:txBody>
      </p:sp>
      <p:sp>
        <p:nvSpPr>
          <p:cNvPr id="21" name="Text 17"/>
          <p:cNvSpPr/>
          <p:nvPr/>
        </p:nvSpPr>
        <p:spPr>
          <a:xfrm>
            <a:off x="4782312" y="448056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posts &amp;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API.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8284464" y="2011680"/>
            <a:ext cx="352044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293608" y="2011680"/>
            <a:ext cx="3502152" cy="12801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4" name="Shape 20"/>
          <p:cNvSpPr/>
          <p:nvPr/>
        </p:nvSpPr>
        <p:spPr>
          <a:xfrm>
            <a:off x="8604504" y="2468880"/>
            <a:ext cx="1051560" cy="105156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7910" y="2742286"/>
            <a:ext cx="504749" cy="504749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8604504" y="37033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8604504" y="395020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SQLite</a:t>
            </a:r>
            <a:endParaRPr lang="en-US" sz="2000" dirty="0"/>
          </a:p>
        </p:txBody>
      </p:sp>
      <p:sp>
        <p:nvSpPr>
          <p:cNvPr id="28" name="Text 23"/>
          <p:cNvSpPr/>
          <p:nvPr/>
        </p:nvSpPr>
        <p:spPr>
          <a:xfrm>
            <a:off x="8604504" y="448056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users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posts.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640080" y="5669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to this?  </a:t>
            </a:r>
            <a:pPr algn="ctr" indent="0" marL="0">
              <a:buNone/>
            </a:pPr>
            <a:r>
              <a:rPr lang="en-US" sz="1450" b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Flask + SQLite (one language). Add React or Vue later for a fancier look.</a:t>
            </a:r>
            <a:endParaRPr lang="en-US" sz="1450" dirty="0"/>
          </a:p>
        </p:txBody>
      </p:sp>
      <p:sp>
        <p:nvSpPr>
          <p:cNvPr id="30" name="Text 25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8,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75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LOOKS LIKE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Page Designs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474720" cy="3950208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1984248"/>
            <a:ext cx="475488" cy="475488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984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389888" y="1929384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Log in page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41248" y="2651760"/>
            <a:ext cx="3072384" cy="2898648"/>
          </a:xfrm>
          <a:prstGeom prst="roundRect">
            <a:avLst>
              <a:gd name="adj" fmla="val 1577"/>
            </a:avLst>
          </a:prstGeom>
          <a:solidFill>
            <a:srgbClr val="F4F8FC"/>
          </a:solidFill>
          <a:ln w="12700">
            <a:solidFill>
              <a:srgbClr val="DCE6F0"/>
            </a:solidFill>
            <a:prstDash val="solid"/>
          </a:ln>
        </p:spPr>
      </p:sp>
      <p:pic>
        <p:nvPicPr>
          <p:cNvPr id="11" name="Image 0" descr="bookimg/mock_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3089758"/>
            <a:ext cx="2889504" cy="2022653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4343400" y="1783080"/>
            <a:ext cx="3474720" cy="3950208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26280" y="1984248"/>
            <a:ext cx="475488" cy="475488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1"/>
          <p:cNvSpPr/>
          <p:nvPr/>
        </p:nvSpPr>
        <p:spPr>
          <a:xfrm>
            <a:off x="4526280" y="1984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5093208" y="1929384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All posts (home)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4544568" y="2651760"/>
            <a:ext cx="3072384" cy="2898648"/>
          </a:xfrm>
          <a:prstGeom prst="roundRect">
            <a:avLst>
              <a:gd name="adj" fmla="val 1577"/>
            </a:avLst>
          </a:prstGeom>
          <a:solidFill>
            <a:srgbClr val="F4F8FC"/>
          </a:solidFill>
          <a:ln w="12700">
            <a:solidFill>
              <a:srgbClr val="DCE6F0"/>
            </a:solidFill>
            <a:prstDash val="solid"/>
          </a:ln>
        </p:spPr>
      </p:sp>
      <p:pic>
        <p:nvPicPr>
          <p:cNvPr id="17" name="Image 1" descr="bookimg/mock_l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3089758"/>
            <a:ext cx="2889504" cy="2022653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8046720" y="1783080"/>
            <a:ext cx="3474720" cy="3950208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0" y="1984248"/>
            <a:ext cx="475488" cy="475488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0" name="Text 16"/>
          <p:cNvSpPr/>
          <p:nvPr/>
        </p:nvSpPr>
        <p:spPr>
          <a:xfrm>
            <a:off x="8229600" y="1984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7"/>
          <p:cNvSpPr/>
          <p:nvPr/>
        </p:nvSpPr>
        <p:spPr>
          <a:xfrm>
            <a:off x="8796528" y="1929384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Read a post</a:t>
            </a:r>
            <a:endParaRPr lang="en-US" sz="1350" dirty="0"/>
          </a:p>
        </p:txBody>
      </p:sp>
      <p:sp>
        <p:nvSpPr>
          <p:cNvPr id="22" name="Shape 18"/>
          <p:cNvSpPr/>
          <p:nvPr/>
        </p:nvSpPr>
        <p:spPr>
          <a:xfrm>
            <a:off x="8247888" y="2651760"/>
            <a:ext cx="3072384" cy="2898648"/>
          </a:xfrm>
          <a:prstGeom prst="roundRect">
            <a:avLst>
              <a:gd name="adj" fmla="val 1577"/>
            </a:avLst>
          </a:prstGeom>
          <a:solidFill>
            <a:srgbClr val="F4F8FC"/>
          </a:solidFill>
          <a:ln w="12700">
            <a:solidFill>
              <a:srgbClr val="DCE6F0"/>
            </a:solidFill>
            <a:prstDash val="solid"/>
          </a:ln>
        </p:spPr>
      </p:sp>
      <p:pic>
        <p:nvPicPr>
          <p:cNvPr id="23" name="Image 2" descr="bookimg/mock_po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3089758"/>
            <a:ext cx="2889504" cy="2022653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1828800" y="5806440"/>
            <a:ext cx="8503920" cy="457200"/>
          </a:xfrm>
          <a:prstGeom prst="roundRect">
            <a:avLst>
              <a:gd name="adj" fmla="val 16000"/>
            </a:avLst>
          </a:prstGeom>
          <a:solidFill>
            <a:srgbClr val="FFF2E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1828800" y="580644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Remember:  </a:t>
            </a:r>
            <a:pPr algn="ctr" indent="0" marL="0">
              <a:buNone/>
            </a:pPr>
            <a:r>
              <a:rPr lang="en-US" sz="145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every change →  git add  ·  git commit  ·  git push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8,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75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SMART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Tips for Building Your Blog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352044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286000"/>
            <a:ext cx="868680" cy="86868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257" y="2511857"/>
            <a:ext cx="416966" cy="41696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920240" y="22860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Start small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0358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login + posts working first. Add the rest later.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462272" y="2011680"/>
            <a:ext cx="352044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36592" y="2286000"/>
            <a:ext cx="868680" cy="868680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449" y="2511857"/>
            <a:ext cx="416966" cy="41696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742432" y="22860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Plan with AI first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4736592" y="30358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task.md plan, then follow it step by step.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284464" y="2011680"/>
            <a:ext cx="352044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558784" y="2286000"/>
            <a:ext cx="868680" cy="86868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4641" y="2511857"/>
            <a:ext cx="416966" cy="41696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564624" y="22860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step at a time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8558784" y="30358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AI for small pieces, not the whole app at once.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640080" y="3794760"/>
            <a:ext cx="352044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914400" y="4069080"/>
            <a:ext cx="868680" cy="868680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257" y="4294937"/>
            <a:ext cx="416966" cy="41696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920240" y="4069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 as you go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914400" y="48188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every button. Fix small problems early.</a:t>
            </a:r>
            <a:endParaRPr lang="en-US" sz="1300" dirty="0"/>
          </a:p>
        </p:txBody>
      </p:sp>
      <p:sp>
        <p:nvSpPr>
          <p:cNvPr id="26" name="Shape 20"/>
          <p:cNvSpPr/>
          <p:nvPr/>
        </p:nvSpPr>
        <p:spPr>
          <a:xfrm>
            <a:off x="4462272" y="3794760"/>
            <a:ext cx="352044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4736592" y="4069080"/>
            <a:ext cx="868680" cy="86868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2449" y="4294937"/>
            <a:ext cx="416966" cy="416966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742432" y="4069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Commit &amp; push often</a:t>
            </a:r>
            <a:endParaRPr lang="en-US" sz="1600" dirty="0"/>
          </a:p>
        </p:txBody>
      </p:sp>
      <p:sp>
        <p:nvSpPr>
          <p:cNvPr id="30" name="Text 23"/>
          <p:cNvSpPr/>
          <p:nvPr/>
        </p:nvSpPr>
        <p:spPr>
          <a:xfrm>
            <a:off x="4736592" y="48188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 version every time something works.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8284464" y="3794760"/>
            <a:ext cx="352044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88900" dist="25400" dir="5400000">
              <a:srgbClr val="8FA3BC">
                <a:alpha val="30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8558784" y="4069080"/>
            <a:ext cx="868680" cy="868680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4641" y="4294937"/>
            <a:ext cx="416966" cy="416966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9564624" y="4069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Stuck? Share the error</a:t>
            </a:r>
            <a:endParaRPr lang="en-US" sz="1600" dirty="0"/>
          </a:p>
        </p:txBody>
      </p:sp>
      <p:sp>
        <p:nvSpPr>
          <p:cNvPr id="35" name="Text 27"/>
          <p:cNvSpPr/>
          <p:nvPr/>
        </p:nvSpPr>
        <p:spPr>
          <a:xfrm>
            <a:off x="8558784" y="48188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error message and give it to the AI.</a:t>
            </a:r>
            <a:endParaRPr lang="en-US" sz="1300" dirty="0"/>
          </a:p>
        </p:txBody>
      </p:sp>
      <p:sp>
        <p:nvSpPr>
          <p:cNvPr id="36" name="Text 28"/>
          <p:cNvSpPr/>
          <p:nvPr/>
        </p:nvSpPr>
        <p:spPr>
          <a:xfrm>
            <a:off x="640080" y="5715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Golden loop:  </a:t>
            </a:r>
            <a:pPr algn="ctr" indent="0" marL="0">
              <a:buNone/>
            </a:pPr>
            <a:r>
              <a:rPr lang="en-US" sz="15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little  →  test  →  commit &amp; push  →  repeat.</a:t>
            </a:r>
            <a:endParaRPr lang="en-US" sz="1500" dirty="0"/>
          </a:p>
        </p:txBody>
      </p:sp>
      <p:sp>
        <p:nvSpPr>
          <p:cNvPr id="37" name="Text 29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8,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grpId="6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182880"/>
            <a:ext cx="512064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0" b="1" dirty="0">
                <a:solidFill>
                  <a:srgbClr val="E2EE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{ }</a:t>
            </a:r>
            <a:endParaRPr lang="en-US" sz="30000" dirty="0"/>
          </a:p>
        </p:txBody>
      </p:sp>
      <p:sp>
        <p:nvSpPr>
          <p:cNvPr id="3" name="Shape 1"/>
          <p:cNvSpPr/>
          <p:nvPr/>
        </p:nvSpPr>
        <p:spPr>
          <a:xfrm>
            <a:off x="640080" y="2194560"/>
            <a:ext cx="1097280" cy="1097280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3" y="2479853"/>
            <a:ext cx="526694" cy="52669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3504" y="34290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Let's start building.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640080" y="4526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first </a:t>
            </a:r>
            <a:pPr indent="0" marL="0">
              <a:buNone/>
            </a:pPr>
            <a:r>
              <a:rPr lang="en-US" sz="2200" b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then code.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58368" y="5577840"/>
            <a:ext cx="365760" cy="12801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Shape 5"/>
          <p:cNvSpPr/>
          <p:nvPr/>
        </p:nvSpPr>
        <p:spPr>
          <a:xfrm>
            <a:off x="1078992" y="5577840"/>
            <a:ext cx="146304" cy="12801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Day 1  ·  June 8,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Vibe Coding — Day 1</dc:title>
  <dc:subject>PptxGenJS Presentation</dc:subject>
  <dc:creator>Daze Lu</dc:creator>
  <cp:lastModifiedBy>Daze Lu</cp:lastModifiedBy>
  <cp:revision>1</cp:revision>
  <dcterms:created xsi:type="dcterms:W3CDTF">2026-06-08T07:51:46Z</dcterms:created>
  <dcterms:modified xsi:type="dcterms:W3CDTF">2026-06-08T07:51:46Z</dcterms:modified>
</cp:coreProperties>
</file>