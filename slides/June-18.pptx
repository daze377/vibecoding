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64008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E2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99032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&lt;/&gt;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" y="2240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STEM INSTITUTE  ·  MODULE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7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Scraping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777240" y="3456432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7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AI</a:t>
            </a:r>
            <a:endParaRPr lang="en-US" sz="4700" dirty="0"/>
          </a:p>
        </p:txBody>
      </p:sp>
      <p:sp>
        <p:nvSpPr>
          <p:cNvPr id="8" name="Text 6"/>
          <p:cNvSpPr/>
          <p:nvPr/>
        </p:nvSpPr>
        <p:spPr>
          <a:xfrm>
            <a:off x="841248" y="4526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Collect data from the web — politely — then turn it into a report.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41248" y="5257800"/>
            <a:ext cx="100584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5413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7  —  June 18,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Web Pages to a Report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18,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15184" cy="310896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317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13432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3154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FA3B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43814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&amp; why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41248" y="3913632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scraping is — and the rules of doing it politely.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77154" y="2011680"/>
            <a:ext cx="2615184" cy="310896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69762" y="23317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284C7"/>
          </a:solidFill>
          <a:ln/>
        </p:spPr>
      </p:sp>
      <p:sp>
        <p:nvSpPr>
          <p:cNvPr id="13" name="Text 11"/>
          <p:cNvSpPr/>
          <p:nvPr/>
        </p:nvSpPr>
        <p:spPr>
          <a:xfrm>
            <a:off x="3578322" y="2313432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←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69762" y="3154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FA3B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1474" y="343814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little history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669762" y="3913632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tools, from wget to Playwright.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05667" y="2011680"/>
            <a:ext cx="2615184" cy="310896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8275" y="23317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6835" y="2313432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98275" y="3154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FA3B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79987" y="343814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scrapers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498275" y="3913632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new tools — and deploy Crawl4AI on your PC.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34181" y="2011680"/>
            <a:ext cx="2615184" cy="310896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26789" y="23317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349" y="2313432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▲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326789" y="3154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FA3B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08501" y="343814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project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326789" y="3913632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a bookstore → analyze → chart → report.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11091672" cy="475488"/>
          </a:xfrm>
          <a:prstGeom prst="roundRect">
            <a:avLst>
              <a:gd name="adj" fmla="val 13462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477256"/>
            <a:ext cx="107259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class: </a:t>
            </a:r>
            <a:pPr indent="0" marL="0">
              <a:buNone/>
            </a:pPr>
            <a:r>
              <a:rPr lang="en-US" sz="12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data pipeline you built with prompts — scrape → clean → analyze → chart → report.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 · WHAT &amp; 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Web Scraping?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18,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scraper is a program that visits web pages and collects information — like a super-fast reader taking notes.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 use it for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" y="2679192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6060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tracking — "tell me when this drops below $20"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3355848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28269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— collect 1,000 articles to study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" y="4032504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395935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and weather dashboards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" y="4709160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463600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data to AI models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874520"/>
            <a:ext cx="539496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F9C9A3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Scraper's Code of Honor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2578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30568" y="260604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robots.txt —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lists what bots may visit — respect it.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32552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30568" y="3282696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gentle —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delays; never hammer a site with fast requests.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30568" y="3959352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only —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logins you shouldn’t have, no personal data.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7960" y="46085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30568" y="4636008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credit —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where your data came from in your report.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715000"/>
            <a:ext cx="11091672" cy="457200"/>
          </a:xfrm>
          <a:prstGeom prst="roundRect">
            <a:avLst>
              <a:gd name="adj" fmla="val 14000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705856"/>
            <a:ext cx="10725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zero: </a:t>
            </a:r>
            <a:pPr indent="0" marL="0">
              <a:buNone/>
            </a:pPr>
            <a:r>
              <a:rPr lang="en-US" sz="12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website offers an API or a download button, use that instead of scraping.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 · HISTORY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Classic Scraping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18,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14400" y="2514600"/>
            <a:ext cx="10058400" cy="0"/>
          </a:xfrm>
          <a:prstGeom prst="line">
            <a:avLst/>
          </a:prstGeom>
          <a:noFill/>
          <a:ln w="31750">
            <a:solidFill>
              <a:srgbClr val="DC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2404872"/>
            <a:ext cx="237744" cy="237744"/>
          </a:xfrm>
          <a:prstGeom prst="ellipse">
            <a:avLst/>
          </a:prstGeom>
          <a:solidFill>
            <a:srgbClr val="0284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1996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2112264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wget / curl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page from the terminal. One page at a time, raw HTML.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26180" y="2404872"/>
            <a:ext cx="237744" cy="237744"/>
          </a:xfrm>
          <a:prstGeom prst="ellipse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9524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2004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93492" y="2880360"/>
            <a:ext cx="2112264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76372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BeautifulSoup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76372" y="352044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 that picks data out of messy HTML "soup".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71032" y="2404872"/>
            <a:ext cx="237744" cy="237744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94376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38344" y="2880360"/>
            <a:ext cx="2112264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21224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Selenium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21224" y="352044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 real browser — can click, type and see JavaScript pages.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15884" y="2404872"/>
            <a:ext cx="237744" cy="237744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39228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2008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83196" y="2880360"/>
            <a:ext cx="2112264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66076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Scrapy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466076" y="352044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crawling framework — thousands of pages, fast and organized.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460736" y="2404872"/>
            <a:ext cx="237744" cy="237744"/>
          </a:xfrm>
          <a:prstGeom prst="ellipse">
            <a:avLst/>
          </a:prstGeom>
          <a:solidFill>
            <a:srgbClr val="0F27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2020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528048" y="2880360"/>
            <a:ext cx="2112264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710928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Playwright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710928" y="352044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browser control — fast, reliable, built for today’s web.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614416"/>
            <a:ext cx="1072591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pain: </a:t>
            </a:r>
            <a:pPr indent="0" marL="0"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all of these, a human had to study the page and hand-write the extraction rules.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1" grpId="0"/>
      <p:bldP spid="12" grpId="0"/>
      <p:bldP spid="16" grpId="0"/>
      <p:bldP spid="17" grpId="0"/>
      <p:bldP spid="21" grpId="0"/>
      <p:bldP spid="22" grpId="0"/>
      <p:bldP spid="26" grpId="0"/>
      <p:bldP spid="27" grpId="0"/>
      <p:bldP spid="8" grpId="0"/>
      <p:bldP spid="9" grpId="0"/>
      <p:bldP spid="10" grpId="0"/>
      <p:bldP spid="13" grpId="0"/>
      <p:bldP spid="14" grpId="0"/>
      <p:bldP spid="15" grpId="0"/>
      <p:bldP spid="18" grpId="0"/>
      <p:bldP spid="19" grpId="0"/>
      <p:bldP spid="20" grpId="0"/>
      <p:bldP spid="23" grpId="0"/>
      <p:bldP spid="24" grpId="0"/>
      <p:bldP spid="25" grpId="0"/>
      <p:bldP spid="28" grpId="0"/>
      <p:bldP spid="29" grpId="0"/>
      <p:bldP spid="30" grpId="0"/>
      <p:bldP spid="31" grpId="0"/>
      <p:bldP spid="32" grpId="0"/>
    </p:bldLst>
  </p:timing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 · HISTORY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Scraping Was Hard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18,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2239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8424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95681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Messy HTML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08760" y="2514600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pages are tangled. Finding "the price" meant hunting through hundreds of tags.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42239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98424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965960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78040" y="195681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Sites change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78040" y="2514600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updates its design → your selectors break → your scraper dies overnight.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542239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95020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39227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 pages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pages are empty until scripts run — old tools saw nothing at all.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657600"/>
            <a:ext cx="542239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395020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931920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227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 was raw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78040" y="4480560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got HTML tags, not clean data. Cleaning took longer than scraping.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715000"/>
            <a:ext cx="11091672" cy="457200"/>
          </a:xfrm>
          <a:prstGeom prst="roundRect">
            <a:avLst>
              <a:gd name="adj" fmla="val 14000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705856"/>
            <a:ext cx="10725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came the idea: </a:t>
            </a:r>
            <a:pPr indent="0" marL="0"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an AI read the page like a human — and pulled out the data itself?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 · AI SCRAPERS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New Generation (2026)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18,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AI-era scrapers return clean, readable text (Markdown) that both humans and AI models understand.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66160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19456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180844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service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Firecrawl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1248" y="3200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firecrawl.dev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" y="361188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URL, get clean Markdown back. Maps whole websites. Paid plans.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11396" y="1920240"/>
            <a:ext cx="3566160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4004" y="219456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4604004" y="2180844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Instant &amp; simple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85716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Jina Reader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04004" y="3200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jina.ai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04004" y="361188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r.jina.ai/ in front of any URL — the page comes back as clean text.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74152" y="1920240"/>
            <a:ext cx="3566160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66760" y="219456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2180844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source · free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48472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Crawl4AI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66760" y="3200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crawl4ai.com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361188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library that runs on YOUR computer. Full control, no fees. Our pick!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522976"/>
            <a:ext cx="1072591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pick Crawl4AI: </a:t>
            </a:r>
            <a:pPr indent="0" marL="0"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 source, runs locally — and it was built for the AI era from day one.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 · DEPLOY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 Crawl4AI on Your PC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18,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0F2740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91640"/>
            <a:ext cx="100584" cy="100584"/>
          </a:xfrm>
          <a:prstGeom prst="ellipse">
            <a:avLst/>
          </a:prstGeom>
          <a:solidFill>
            <a:srgbClr val="E2433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691640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691640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62763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Anaconda Prompt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55778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install the library (Anaconda Prompt)
</a:t>
            </a:r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crawl4ai
</a:t>
            </a:r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set it up (downloads a mini browser)
</a:t>
            </a:r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crawl4ai-setup
</a:t>
            </a:r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check everything works
</a:t>
            </a:r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crawl4ai-doctor
</a:t>
            </a:r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All checks passed!
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0" y="1554480"/>
            <a:ext cx="480060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each step does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68896" y="2395728"/>
            <a:ext cx="118872" cy="11887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23317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the Crawl4AI Python library (we installed Miniconda on Day 2 — this is why!).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68896" y="3447288"/>
            <a:ext cx="118872" cy="11887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33832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crawl4ai-setup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a small hidden Chromium browser the crawler will drive.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68896" y="4498848"/>
            <a:ext cx="118872" cy="11887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44348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crawl4ai-doctor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health check and tells you how to fix any problem it finds.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870448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861304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deployment: </a:t>
            </a:r>
            <a:pPr indent="0" marL="0">
              <a:buNone/>
            </a:pP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crawler now runs on your machine — no cloud account, no fees.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 · FIRST CRAWL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First Crawl — 8 Lines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18,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309360" cy="4114800"/>
          </a:xfrm>
          <a:prstGeom prst="roundRect">
            <a:avLst>
              <a:gd name="adj" fmla="val 1778"/>
            </a:avLst>
          </a:prstGeom>
          <a:solidFill>
            <a:srgbClr val="0F2740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91640"/>
            <a:ext cx="100584" cy="100584"/>
          </a:xfrm>
          <a:prstGeom prst="ellipse">
            <a:avLst/>
          </a:prstGeom>
          <a:solidFill>
            <a:srgbClr val="E2433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691640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691640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162763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first_crawl.py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5852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asyncio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crawl4ai import AsyncWebCrawler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main():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with AsyncWebCrawler() as crawler: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await crawler.arun(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"https://books.toscrape.com")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print(result.markdown[:300])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asyncio.run(main())
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132320" y="1554480"/>
            <a:ext cx="452628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0664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happens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24928" y="2395728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7662672" y="23317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browser opens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loads the page — JavaScript and all.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24928" y="3447288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7662672" y="33832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becomes Markdown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readable text instead of HTML tags.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24928" y="4498848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7662672" y="44348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result.markdown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yours: print it, save it, or hand it to an AI.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870448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861304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</a:t>
            </a:r>
            <a:pPr indent="0" marL="0">
              <a:buNone/>
            </a:pP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means "don't wait around" — it lets the crawler handle many pages at once. AI writes it for you.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 · EXTRACT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Pages to a Clean 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18,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309360" cy="4114800"/>
          </a:xfrm>
          <a:prstGeom prst="roundRect">
            <a:avLst>
              <a:gd name="adj" fmla="val 1778"/>
            </a:avLst>
          </a:prstGeom>
          <a:solidFill>
            <a:srgbClr val="0F2740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91640"/>
            <a:ext cx="100584" cy="100584"/>
          </a:xfrm>
          <a:prstGeom prst="ellipse">
            <a:avLst/>
          </a:prstGeom>
          <a:solidFill>
            <a:srgbClr val="E2433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691640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691640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162763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5852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describe WHAT you want, by CSS selector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= {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"baseSelector": "article.product_pod",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"fields": [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"title",  "selector": "h3 a",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"type": "text"},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"price",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"selector": ".price_color",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"type": "text"}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[{"title": "...", "price": "£51.77"}, ...]
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0" y="1554480"/>
            <a:ext cx="452628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0664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ways to extract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06640" y="2331720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 schema (shown)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fast and free. Tell it where things live on the page; it returns JSON rows. Ask the AI to write the schema for you.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06640" y="3749040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extraction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 messy pages: an AI model reads the page and fills your fields. Slower, costs tokens, but survives redesigns.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870448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861304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CSS, </a:t>
            </a:r>
            <a:pPr indent="0" marL="0">
              <a:buNone/>
            </a:pP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LLM only when the page is too messy. Cheap first, smart second.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STUDY · WE REALLY RAN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Run: 60 Books Scraped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18,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760720" cy="4114800"/>
          </a:xfrm>
          <a:prstGeom prst="roundRect">
            <a:avLst>
              <a:gd name="adj" fmla="val 1778"/>
            </a:avLst>
          </a:prstGeom>
          <a:solidFill>
            <a:srgbClr val="0F2740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91640"/>
            <a:ext cx="100584" cy="100584"/>
          </a:xfrm>
          <a:prstGeom prst="ellipse">
            <a:avLst/>
          </a:prstGeom>
          <a:solidFill>
            <a:srgbClr val="E2433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691640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691640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62763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530352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make_site.py
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site/ built: 3 pages (60 books)
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scrape_books.py
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.../index.html   -&gt;  20 books
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.../page-2.html  -&gt;  20 books
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.../page-3.html  -&gt;  20 books
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60 books to books.csv
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head -3 books.csv
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title,category,rating,price
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Iron Island,History,..,£44.64
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Lost Garden,Fiction,..,£48.20
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554480"/>
            <a:ext cx="507492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real lesson from this run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76288" y="2350008"/>
            <a:ext cx="118872" cy="11887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7114032" y="2286000"/>
            <a:ext cx="43891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crawl worked first try — </a:t>
            </a:r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Crawl4AI + the CSS schema pulled all 60 books, with a 1-second polite delay per page.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76288" y="3465576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7114032" y="3401568"/>
            <a:ext cx="43891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data came back messy — </a:t>
            </a:r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rating arrived as ["star-rating", "Two"] — not a number!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76288" y="4581144"/>
            <a:ext cx="118872" cy="1188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8" name="Text 16"/>
          <p:cNvSpPr/>
          <p:nvPr/>
        </p:nvSpPr>
        <p:spPr>
          <a:xfrm>
            <a:off x="7114032" y="4517136"/>
            <a:ext cx="43891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told the AI, it fixed it — </a:t>
            </a:r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cleaning code later, ratings became 1–5. Scraped data is ALWAYS messy — plan to clean 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870448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861304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it offline </a:t>
            </a:r>
            <a:pPr indent="0" marL="0">
              <a:buNone/>
            </a:pP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local practice copy (examples/june-18-web-scraping/) — in class, you point it at books.toscrape.com.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11.xml><?xml version="1.0" encoding="utf-8"?>
<p:sld xmlns:a="http://schemas.openxmlformats.org/drawingml/2006/main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4 · THE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Whole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18,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— and you already know four of them from Day 6.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664208" cy="21031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46888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50592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Scrape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1792" y="3502152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Crawl4AI visits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bookstore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31136" y="3154680"/>
            <a:ext cx="182880" cy="237744"/>
          </a:xfrm>
          <a:prstGeom prst="rightArrow">
            <a:avLst/>
          </a:prstGeom>
          <a:solidFill>
            <a:srgbClr val="0EA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4133" y="2240280"/>
            <a:ext cx="1664208" cy="21031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82773" y="246888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2891333" y="2450592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25573" y="31089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Save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507285" y="3502152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books.csv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data, kept safe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6629" y="3154680"/>
            <a:ext cx="182880" cy="237744"/>
          </a:xfrm>
          <a:prstGeom prst="rightArrow">
            <a:avLst/>
          </a:prstGeom>
          <a:solidFill>
            <a:srgbClr val="0EA5E9"/>
          </a:solidFill>
          <a:ln/>
        </p:spPr>
      </p:sp>
      <p:sp>
        <p:nvSpPr>
          <p:cNvPr id="18" name="Shape 16"/>
          <p:cNvSpPr/>
          <p:nvPr/>
        </p:nvSpPr>
        <p:spPr>
          <a:xfrm>
            <a:off x="4319626" y="2240280"/>
            <a:ext cx="1664208" cy="21031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68266" y="246888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4776826" y="2450592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11066" y="31089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Clean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392778" y="3502152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prices, ratings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(pandas)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02122" y="3154680"/>
            <a:ext cx="182880" cy="237744"/>
          </a:xfrm>
          <a:prstGeom prst="rightArrow">
            <a:avLst/>
          </a:prstGeom>
          <a:solidFill>
            <a:srgbClr val="0EA5E9"/>
          </a:solidFill>
          <a:ln/>
        </p:spPr>
      </p:sp>
      <p:sp>
        <p:nvSpPr>
          <p:cNvPr id="24" name="Shape 22"/>
          <p:cNvSpPr/>
          <p:nvPr/>
        </p:nvSpPr>
        <p:spPr>
          <a:xfrm>
            <a:off x="6205118" y="2240280"/>
            <a:ext cx="1664208" cy="21031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53758" y="246888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6662318" y="2450592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96558" y="31089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Analyze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278270" y="3502152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averages, counts,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category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887614" y="3154680"/>
            <a:ext cx="182880" cy="237744"/>
          </a:xfrm>
          <a:prstGeom prst="rightArrow">
            <a:avLst/>
          </a:prstGeom>
          <a:solidFill>
            <a:srgbClr val="0EA5E9"/>
          </a:solidFill>
          <a:ln/>
        </p:spPr>
      </p:sp>
      <p:sp>
        <p:nvSpPr>
          <p:cNvPr id="30" name="Shape 28"/>
          <p:cNvSpPr/>
          <p:nvPr/>
        </p:nvSpPr>
        <p:spPr>
          <a:xfrm>
            <a:off x="8090611" y="2240280"/>
            <a:ext cx="1664208" cy="21031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639251" y="246888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2" name="Text 30"/>
          <p:cNvSpPr/>
          <p:nvPr/>
        </p:nvSpPr>
        <p:spPr>
          <a:xfrm>
            <a:off x="8547811" y="2450592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82051" y="31089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163763" y="3502152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charts, histograms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(matplotlib)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773107" y="3154680"/>
            <a:ext cx="182880" cy="237744"/>
          </a:xfrm>
          <a:prstGeom prst="rightArrow">
            <a:avLst/>
          </a:prstGeom>
          <a:solidFill>
            <a:srgbClr val="0EA5E9"/>
          </a:solidFill>
          <a:ln/>
        </p:spPr>
      </p:sp>
      <p:sp>
        <p:nvSpPr>
          <p:cNvPr id="36" name="Shape 34"/>
          <p:cNvSpPr/>
          <p:nvPr/>
        </p:nvSpPr>
        <p:spPr>
          <a:xfrm>
            <a:off x="9976104" y="2240280"/>
            <a:ext cx="1664208" cy="21031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524744" y="2468880"/>
            <a:ext cx="502920" cy="502920"/>
          </a:xfrm>
          <a:prstGeom prst="ellipse">
            <a:avLst/>
          </a:prstGeom>
          <a:solidFill>
            <a:srgbClr val="0F2740"/>
          </a:solidFill>
          <a:ln/>
        </p:spPr>
      </p:sp>
      <p:sp>
        <p:nvSpPr>
          <p:cNvPr id="38" name="Text 36"/>
          <p:cNvSpPr/>
          <p:nvPr/>
        </p:nvSpPr>
        <p:spPr>
          <a:xfrm>
            <a:off x="10433304" y="2450592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067544" y="31089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0049256" y="3502152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report.md with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+ findings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4846320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E6F2FB"/>
          </a:solidFill>
          <a:ln w="12700">
            <a:solidFill>
              <a:srgbClr val="BBD9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837176"/>
            <a:ext cx="1072591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familiar?  </a:t>
            </a:r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3–6 are exactly what we did on Day 6 — the only new piece is where the data comes from. Skills stack!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12.xml><?xml version="1.0" encoding="utf-8"?>
<p:sld xmlns:a="http://schemas.openxmlformats.org/drawingml/2006/main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4 · THE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Target: books.toscrape.com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18,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035040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084832"/>
            <a:ext cx="118872" cy="118872"/>
          </a:xfrm>
          <a:prstGeom prst="ellipse">
            <a:avLst/>
          </a:prstGeom>
          <a:solidFill>
            <a:srgbClr val="E2433A"/>
          </a:solidFill>
          <a:ln/>
        </p:spPr>
      </p:sp>
      <p:sp>
        <p:nvSpPr>
          <p:cNvPr id="8" name="Shape 6"/>
          <p:cNvSpPr/>
          <p:nvPr/>
        </p:nvSpPr>
        <p:spPr>
          <a:xfrm>
            <a:off x="1161288" y="2084832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Shape 7"/>
          <p:cNvSpPr/>
          <p:nvPr/>
        </p:nvSpPr>
        <p:spPr>
          <a:xfrm>
            <a:off x="1362456" y="2084832"/>
            <a:ext cx="118872" cy="11887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193852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books.toscrape.com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Books to Scrape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30906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love being scraped!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3611880"/>
            <a:ext cx="1188720" cy="1691640"/>
          </a:xfrm>
          <a:prstGeom prst="roundRect">
            <a:avLst>
              <a:gd name="adj" fmla="val 4615"/>
            </a:avLst>
          </a:prstGeom>
          <a:solidFill>
            <a:srgbClr val="F7FAFD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8992" y="3767328"/>
            <a:ext cx="859536" cy="777240"/>
          </a:xfrm>
          <a:prstGeom prst="rect">
            <a:avLst/>
          </a:prstGeom>
          <a:solidFill>
            <a:srgbClr val="BBD9F0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617720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 in...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£51.77  ★★★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40280" y="3611880"/>
            <a:ext cx="1188720" cy="1691640"/>
          </a:xfrm>
          <a:prstGeom prst="roundRect">
            <a:avLst>
              <a:gd name="adj" fmla="val 4615"/>
            </a:avLst>
          </a:prstGeom>
          <a:solidFill>
            <a:srgbClr val="F7FAFD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04872" y="3767328"/>
            <a:ext cx="859536" cy="777240"/>
          </a:xfrm>
          <a:prstGeom prst="rect">
            <a:avLst/>
          </a:prstGeom>
          <a:solidFill>
            <a:srgbClr val="F9C9A3"/>
          </a:solidFill>
          <a:ln/>
        </p:spPr>
      </p:sp>
      <p:sp>
        <p:nvSpPr>
          <p:cNvPr id="18" name="Text 16"/>
          <p:cNvSpPr/>
          <p:nvPr/>
        </p:nvSpPr>
        <p:spPr>
          <a:xfrm>
            <a:off x="2258568" y="4617720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Tipping the...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£53.74  ★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66160" y="3611880"/>
            <a:ext cx="1188720" cy="1691640"/>
          </a:xfrm>
          <a:prstGeom prst="roundRect">
            <a:avLst>
              <a:gd name="adj" fmla="val 4615"/>
            </a:avLst>
          </a:prstGeom>
          <a:solidFill>
            <a:srgbClr val="F7FAFD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0752" y="3767328"/>
            <a:ext cx="859536" cy="777240"/>
          </a:xfrm>
          <a:prstGeom prst="rect">
            <a:avLst/>
          </a:prstGeom>
          <a:solidFill>
            <a:srgbClr val="C9E8C9"/>
          </a:solidFill>
          <a:ln/>
        </p:spPr>
      </p:sp>
      <p:sp>
        <p:nvSpPr>
          <p:cNvPr id="21" name="Text 19"/>
          <p:cNvSpPr/>
          <p:nvPr/>
        </p:nvSpPr>
        <p:spPr>
          <a:xfrm>
            <a:off x="3584448" y="4617720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£50.10  ★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92040" y="3611880"/>
            <a:ext cx="1188720" cy="1691640"/>
          </a:xfrm>
          <a:prstGeom prst="roundRect">
            <a:avLst>
              <a:gd name="adj" fmla="val 4615"/>
            </a:avLst>
          </a:prstGeom>
          <a:solidFill>
            <a:srgbClr val="F7FAFD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56632" y="3767328"/>
            <a:ext cx="859536" cy="777240"/>
          </a:xfrm>
          <a:prstGeom prst="rect">
            <a:avLst/>
          </a:prstGeom>
          <a:solidFill>
            <a:srgbClr val="E2D5F0"/>
          </a:solidFill>
          <a:ln/>
        </p:spPr>
      </p:sp>
      <p:sp>
        <p:nvSpPr>
          <p:cNvPr id="24" name="Text 22"/>
          <p:cNvSpPr/>
          <p:nvPr/>
        </p:nvSpPr>
        <p:spPr>
          <a:xfrm>
            <a:off x="4910328" y="4617720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Objects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£47.82  ★★★★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58000" y="1645920"/>
            <a:ext cx="4800600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32320" y="1874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site?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50608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43216" y="237744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practice —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bookstore made just for learning to scrape — 100% legal and welcome.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150608" y="3355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43216" y="338328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books —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prices, star ratings, categories and stock info.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150608" y="4361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43216" y="438912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pages —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learning to crawl page 1, 2, 3, ...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14000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797296"/>
            <a:ext cx="10725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 will ask it: </a:t>
            </a:r>
            <a:pPr indent="0" marL="0">
              <a:buNone/>
            </a:pPr>
            <a:r>
              <a:rPr lang="en-US" sz="12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book cost on average? Are higher-rated books pricier? Which category is biggest?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3.xml><?xml version="1.0" encoding="utf-8"?>
<p:sld xmlns:a="http://schemas.openxmlformats.org/drawingml/2006/main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4 · THE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Kickoff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18,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766560" cy="4160520"/>
          </a:xfrm>
          <a:prstGeom prst="roundRect">
            <a:avLst>
              <a:gd name="adj" fmla="val 1538"/>
            </a:avLst>
          </a:prstGeom>
          <a:solidFill>
            <a:srgbClr val="E6F2FB"/>
          </a:solidFill>
          <a:ln w="12700">
            <a:solidFill>
              <a:srgbClr val="BBD9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TO CURSOR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6217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scraping project for books.toscrape.com: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 Crawl4AI to scrape all books — title, price,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rating, category. Add a 1-second delay per page.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Save the raw data to books.csv.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Clean it: prices to numbers, ratings to 1–5.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Analyze: average price per category, price vs rating.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Make 3 charts and save them as PNGs.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Write report.md: the question, the method, the charts,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and 3 findings in plain words. Commit each step."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0" y="1709928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754112" y="1700784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66760" y="1591056"/>
            <a:ext cx="3154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Scrape politely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2304288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63840" y="2414016"/>
            <a:ext cx="347472" cy="3474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7754112" y="2404872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66760" y="2295144"/>
            <a:ext cx="3154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Save raw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35240" y="3008376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63840" y="3118104"/>
            <a:ext cx="347472" cy="34747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754112" y="310896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66760" y="2999232"/>
            <a:ext cx="3154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Clean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35240" y="3712464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63840" y="3822192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7754112" y="3813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66760" y="3703320"/>
            <a:ext cx="3154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Analyze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635240" y="4416552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0" y="4526280"/>
            <a:ext cx="347472" cy="34747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7754112" y="4517136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66760" y="4407408"/>
            <a:ext cx="3154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35240" y="5120640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63840" y="5230368"/>
            <a:ext cx="347472" cy="347472"/>
          </a:xfrm>
          <a:prstGeom prst="ellipse">
            <a:avLst/>
          </a:prstGeom>
          <a:solidFill>
            <a:srgbClr val="0F2740"/>
          </a:solidFill>
          <a:ln/>
        </p:spPr>
      </p:sp>
      <p:sp>
        <p:nvSpPr>
          <p:cNvPr id="30" name="Text 28"/>
          <p:cNvSpPr/>
          <p:nvPr/>
        </p:nvSpPr>
        <p:spPr>
          <a:xfrm>
            <a:off x="7754112" y="5221224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66760" y="5111496"/>
            <a:ext cx="3154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 &amp; commit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870448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861304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delay in step 1 </a:t>
            </a:r>
            <a:pPr indent="0" marL="0">
              <a:buNone/>
            </a:pP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politeness is written into the prompt, not added later.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4.xml><?xml version="1.0" encoding="utf-8"?>
<p:sld xmlns:a="http://schemas.openxmlformats.org/drawingml/2006/main" xmlns:p="http://schemas.openxmlformats.org/presentationml/2006/main">
  <p:cSld name="Slide 1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4 · THE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Prize: report.md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18,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85216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55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3B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REPORT.MD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Bookstore Price Study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1,000 books from books.toscrape.com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Method: Crawl4AI + pandas + matplotlib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32004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3685032"/>
            <a:ext cx="384048" cy="685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3319272"/>
            <a:ext cx="384048" cy="10515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Shape 10"/>
          <p:cNvSpPr/>
          <p:nvPr/>
        </p:nvSpPr>
        <p:spPr>
          <a:xfrm>
            <a:off x="2423160" y="3867912"/>
            <a:ext cx="384048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Shape 11"/>
          <p:cNvSpPr/>
          <p:nvPr/>
        </p:nvSpPr>
        <p:spPr>
          <a:xfrm>
            <a:off x="3520440" y="32004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4206240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0" y="3931920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4069080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3657600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2080" y="3794760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Shape 17"/>
          <p:cNvSpPr/>
          <p:nvPr/>
        </p:nvSpPr>
        <p:spPr>
          <a:xfrm>
            <a:off x="5577840" y="3474720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7091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Findings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Average price: £35.07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Rating does NOT raise the price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Biggest category: Fiction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75120" y="1554480"/>
            <a:ext cx="498348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good report has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967728" y="2350008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7205472" y="2286000"/>
            <a:ext cx="4297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—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wanted to know.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67728" y="3191256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7205472" y="3127248"/>
            <a:ext cx="4297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—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came from, what you did.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967728" y="4032504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7205472" y="3968496"/>
            <a:ext cx="4297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—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beat tables, tables beat sentences.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967728" y="4873752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7205472" y="4809744"/>
            <a:ext cx="4297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Plain-words findings —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friend should remember.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870448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861304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turn report.md into a Word doc or slides — you learned that on Day 5!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STUDY · WE REALLY RAN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Run: Charts &amp; Findings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18,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37490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pic>
        <p:nvPicPr>
          <p:cNvPr id="6" name="Image 0" descr="ex18_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4846320" cy="3054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937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price_by_category.png — from the scraped data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72200" y="1554480"/>
            <a:ext cx="5486400" cy="37490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pic>
        <p:nvPicPr>
          <p:cNvPr id="9" name="Image 1" descr="ex18_h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846320" cy="30540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5080" y="4937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price_hist.png — most books cost £20–50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5577840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E6F2FB"/>
          </a:solidFill>
          <a:ln w="12700">
            <a:solidFill>
              <a:srgbClr val="BBD9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5568696"/>
            <a:ext cx="1072591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report.md findings (real): </a:t>
            </a:r>
            <a:pPr indent="0" marL="0"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book costs £34.02 · price-vs-rating correlation is 0.01 — better stars do NOT mean higher prices · the biggest category is Science (14 books).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6.xml><?xml version="1.0" encoding="utf-8"?>
<p:sld xmlns:a="http://schemas.openxmlformats.org/drawingml/2006/main" xmlns:p="http://schemas.openxmlformats.org/presentationml/2006/main">
  <p:cSld name="Slide 1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Scraper Survival Rules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18,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4767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93852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91109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on one page first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2587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page 1 work perfectly before crawling all 50.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1396" y="169164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5716" y="194767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475988" y="193852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80076" y="191109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Always add delays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04004" y="2587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second between pages. Fast scrapers get blocked.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74152" y="169164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48472" y="194767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8238744" y="193852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42832" y="191109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Save the raw data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66760" y="2587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books.csv untouched; clean a copy. You only scrape once.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05079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04164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01421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 breakage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41248" y="469087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change. When selectors fail, show AI the new page.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11396" y="37947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85716" y="405079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4475988" y="404164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80076" y="401421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robots.txt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04004" y="469087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site.com/robots.txt first — a 10-second check that keeps you polite and legal.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74152" y="37947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48472" y="405079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8238744" y="404164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42832" y="401421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Commit each stage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66760" y="469087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→ clean → analyze → report: one commit per stage.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897880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888736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loop: </a:t>
            </a:r>
            <a:pPr indent="0" marL="0">
              <a:buNone/>
            </a:pP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a little → check the data → scrape more → analyze → report.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56616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E2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web is the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world's biggest dataset.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931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it politely, study it honestly, and tell good stories with it.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Day 7  ·  June 18,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2026-06-11T06:38:10Z</dcterms:created>
  <dcterms:modified xsi:type="dcterms:W3CDTF">2026-06-11T06:38:10Z</dcterms:modified>
</cp:coreProperties>
</file>