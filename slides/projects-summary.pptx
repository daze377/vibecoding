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63" r:id="rId5"/>
    <p:sldId id="264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2"/>
  </p:normalViewPr>
  <p:slideViewPr>
    <p:cSldViewPr snapToGrid="0">
      <p:cViewPr varScale="1">
        <p:scale>
          <a:sx n="88" d="100"/>
          <a:sy n="88" d="100"/>
        </p:scale>
        <p:origin x="1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E7C12-F0F9-A62F-2E76-18527128D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25BF9-0089-43CC-DE9C-A41C5B39E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27FBF-EFD4-659C-42B4-4BE9A5050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1298B-5EED-E192-B229-FF3EF082CDF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4452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257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1893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5166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0742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972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F842A8D-3FD6-495D-A1F5-E1BFB5C474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5931E8-1972-45FD-BF7F-971164E91EBD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2F441F-5474-4443-BBA5-54214739623D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238ED1-F372-4620-BDC0-70BDB05AA924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D6F988-BE00-4D9D-8F94-C7F9BB66441E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57200" cy="6667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C4133F-D84F-441B-92BB-6EE3227FDA93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STEM INSTITUTE  ·  MODULE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F75581-DF22-42B9-8D68-5F9F766D2B7C}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676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02A43"/>
                </a:solidFill>
              </a:defRPr>
            </a:pPr>
            <a:r>
              <a:rPr lang="en-US" sz="3150" b="1" dirty="0">
                <a:solidFill>
                  <a:srgbClr val="102A43"/>
                </a:solidFill>
              </a:rPr>
              <a:t>Vibe coding</a:t>
            </a:r>
            <a:endParaRPr sz="3150" b="1" dirty="0">
              <a:solidFill>
                <a:srgbClr val="102A4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69270-247E-4AAC-8392-AF977B70CEC6}"/>
              </a:ext>
            </a:extLst>
          </p:cNvPr>
          <p:cNvSpPr>
            <a:spLocks noGrp="1"/>
          </p:cNvSpPr>
          <p:nvPr/>
        </p:nvSpPr>
        <p:spPr>
          <a:xfrm>
            <a:off x="762000" y="3634539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263B50"/>
                </a:solidFill>
              </a:defRPr>
            </a:pPr>
            <a:r>
              <a:rPr sz="1575" dirty="0">
                <a:solidFill>
                  <a:srgbClr val="263B50"/>
                </a:solidFill>
              </a:rPr>
              <a:t>What the course taught, and what </a:t>
            </a:r>
            <a:r>
              <a:rPr lang="en-US" sz="1575" dirty="0">
                <a:solidFill>
                  <a:srgbClr val="263B50"/>
                </a:solidFill>
              </a:rPr>
              <a:t>we</a:t>
            </a:r>
            <a:r>
              <a:rPr sz="1575" dirty="0">
                <a:solidFill>
                  <a:srgbClr val="263B50"/>
                </a:solidFill>
              </a:rPr>
              <a:t> built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765D0B-3B9A-4ACD-9E26-17CF9B1A718B}"/>
              </a:ext>
            </a:extLst>
          </p:cNvPr>
          <p:cNvSpPr>
            <a:spLocks noGrp="1"/>
          </p:cNvSpPr>
          <p:nvPr/>
        </p:nvSpPr>
        <p:spPr>
          <a:xfrm>
            <a:off x="762000" y="4272714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6788A"/>
                </a:solidFill>
              </a:defRPr>
            </a:pPr>
            <a:r>
              <a:rPr sz="1200" dirty="0">
                <a:solidFill>
                  <a:srgbClr val="66788A"/>
                </a:solidFill>
              </a:rPr>
              <a:t>The </a:t>
            </a:r>
            <a:r>
              <a:rPr lang="en-US" sz="1200" dirty="0">
                <a:solidFill>
                  <a:srgbClr val="66788A"/>
                </a:solidFill>
              </a:rPr>
              <a:t>course</a:t>
            </a:r>
            <a:r>
              <a:rPr sz="1200" dirty="0">
                <a:solidFill>
                  <a:srgbClr val="66788A"/>
                </a:solidFill>
              </a:rPr>
              <a:t> moved from AI basics to real projects: documents, data, web apps, desktop software, and games.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719650-190C-4143-B830-F934869E13C0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1BA6DB-4358-4958-A50F-615F78E509EB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733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1186E81-B9D6-4902-AA5E-A5F3A79E3E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CCA594-F7B4-4510-9F1B-0EBC385E0087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44E1EB-2587-433D-A54B-FE2B5632DF3C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97D728-FA91-4C9C-A64F-0290490FB99F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7CCDC-5AAC-4E61-8AD0-D5417B460908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COURSE ARC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3FF1B8-91FB-4919-94B4-6C2C1A2648A1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The course built one delivery loop across many domains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F896E8B-5303-41ED-9FBF-3503BB06980C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572750" cy="0"/>
          </a:xfrm>
          <a:prstGeom prst="line">
            <a:avLst/>
          </a:prstGeom>
          <a:noFill/>
          <a:ln w="9525">
            <a:solidFill>
              <a:srgbClr val="D7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5E76E3-FC08-4139-9234-9877241D749C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21FADF-E29A-49F9-BE14-7640CB0D8C02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DAF2FD-4206-4B30-A515-406233F3E219}"/>
              </a:ext>
            </a:extLst>
          </p:cNvPr>
          <p:cNvSpPr>
            <a:spLocks noGrp="1"/>
          </p:cNvSpPr>
          <p:nvPr/>
        </p:nvSpPr>
        <p:spPr>
          <a:xfrm>
            <a:off x="781050" y="1990725"/>
            <a:ext cx="4191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02831F-8530-4750-B12A-5CA5939E9E65}"/>
              </a:ext>
            </a:extLst>
          </p:cNvPr>
          <p:cNvSpPr>
            <a:spLocks noGrp="1"/>
          </p:cNvSpPr>
          <p:nvPr/>
        </p:nvSpPr>
        <p:spPr>
          <a:xfrm>
            <a:off x="1428750" y="19050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Foundation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03D8BB-0650-4B45-AA8A-E5FF7B2F52FA}"/>
              </a:ext>
            </a:extLst>
          </p:cNvPr>
          <p:cNvSpPr>
            <a:spLocks noGrp="1"/>
          </p:cNvSpPr>
          <p:nvPr/>
        </p:nvSpPr>
        <p:spPr>
          <a:xfrm>
            <a:off x="4286250" y="19240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B50"/>
                </a:solidFill>
              </a:defRPr>
            </a:pPr>
            <a:r>
              <a:rPr sz="1200">
                <a:solidFill>
                  <a:srgbClr val="263B50"/>
                </a:solidFill>
              </a:rPr>
              <a:t>Vibe coding, agents, Cursor, Git, GitHub.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DAF6E5-22BF-4788-85B6-97A6070DDAF2}"/>
              </a:ext>
            </a:extLst>
          </p:cNvPr>
          <p:cNvSpPr>
            <a:spLocks noGrp="1"/>
          </p:cNvSpPr>
          <p:nvPr/>
        </p:nvSpPr>
        <p:spPr>
          <a:xfrm>
            <a:off x="781050" y="2676525"/>
            <a:ext cx="4191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686F5F-30E7-4886-B9BC-5921A6AF962D}"/>
              </a:ext>
            </a:extLst>
          </p:cNvPr>
          <p:cNvSpPr>
            <a:spLocks noGrp="1"/>
          </p:cNvSpPr>
          <p:nvPr/>
        </p:nvSpPr>
        <p:spPr>
          <a:xfrm>
            <a:off x="1428750" y="25908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AI workflow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396586-F509-4648-84E3-B89288D83487}"/>
              </a:ext>
            </a:extLst>
          </p:cNvPr>
          <p:cNvSpPr>
            <a:spLocks noGrp="1"/>
          </p:cNvSpPr>
          <p:nvPr/>
        </p:nvSpPr>
        <p:spPr>
          <a:xfrm>
            <a:off x="4286250" y="26098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B50"/>
                </a:solidFill>
              </a:defRPr>
            </a:pPr>
            <a:r>
              <a:rPr sz="1200">
                <a:solidFill>
                  <a:srgbClr val="263B50"/>
                </a:solidFill>
              </a:rPr>
              <a:t>Rules, skills, MCP, subagents, plugins, Superpowers.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770564-05D5-4CA9-AD69-FE2F86189007}"/>
              </a:ext>
            </a:extLst>
          </p:cNvPr>
          <p:cNvSpPr>
            <a:spLocks noGrp="1"/>
          </p:cNvSpPr>
          <p:nvPr/>
        </p:nvSpPr>
        <p:spPr>
          <a:xfrm>
            <a:off x="1428750" y="3986466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A43"/>
                </a:solidFill>
              </a:defRPr>
            </a:pPr>
            <a:r>
              <a:rPr sz="1425" b="1" dirty="0">
                <a:solidFill>
                  <a:srgbClr val="102A43"/>
                </a:solidFill>
              </a:rPr>
              <a:t>Build apps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4259FE-9A29-4E0E-B976-28D843FE3AE4}"/>
              </a:ext>
            </a:extLst>
          </p:cNvPr>
          <p:cNvSpPr>
            <a:spLocks noGrp="1"/>
          </p:cNvSpPr>
          <p:nvPr/>
        </p:nvSpPr>
        <p:spPr>
          <a:xfrm>
            <a:off x="4286250" y="4005516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B50"/>
                </a:solidFill>
              </a:defRPr>
            </a:pPr>
            <a:r>
              <a:rPr sz="1200">
                <a:solidFill>
                  <a:srgbClr val="263B50"/>
                </a:solidFill>
              </a:rPr>
              <a:t>Blog system, desktop PDF editor, Godot game.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EE7C56-2C10-4024-9070-AF817B1FD7A2}"/>
              </a:ext>
            </a:extLst>
          </p:cNvPr>
          <p:cNvSpPr>
            <a:spLocks noGrp="1"/>
          </p:cNvSpPr>
          <p:nvPr/>
        </p:nvSpPr>
        <p:spPr>
          <a:xfrm>
            <a:off x="1428750" y="3276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Work with 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098C0F-151E-424C-B7AD-BDEDB57C6617}"/>
              </a:ext>
            </a:extLst>
          </p:cNvPr>
          <p:cNvSpPr>
            <a:spLocks noGrp="1"/>
          </p:cNvSpPr>
          <p:nvPr/>
        </p:nvSpPr>
        <p:spPr>
          <a:xfrm>
            <a:off x="4286250" y="32956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B50"/>
                </a:solidFill>
              </a:defRPr>
            </a:pPr>
            <a:r>
              <a:rPr sz="1200" dirty="0">
                <a:solidFill>
                  <a:srgbClr val="263B50"/>
                </a:solidFill>
              </a:rPr>
              <a:t>Word, Excel, pandas, charts, ML.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C47905-C9BD-4348-B927-8105BF027F11}"/>
              </a:ext>
            </a:extLst>
          </p:cNvPr>
          <p:cNvSpPr>
            <a:spLocks noGrp="1"/>
          </p:cNvSpPr>
          <p:nvPr/>
        </p:nvSpPr>
        <p:spPr>
          <a:xfrm>
            <a:off x="781050" y="4084215"/>
            <a:ext cx="4191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0D8AA0-D117-41D8-8154-C7735F4C7DB7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The same habit repeats every week: describe the goal, make the task small, verify the output.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34E3597-3939-57B0-3CB3-4BDF810C3674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419100" cy="304800"/>
          </a:xfrm>
          <a:prstGeom prst="roundRect">
            <a:avLst>
              <a:gd name="adj" fmla="val 18750"/>
            </a:avLst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15B3784-EDED-C88C-740D-0CD1013F1532}"/>
              </a:ext>
            </a:extLst>
          </p:cNvPr>
          <p:cNvSpPr>
            <a:spLocks noGrp="1"/>
          </p:cNvSpPr>
          <p:nvPr/>
        </p:nvSpPr>
        <p:spPr>
          <a:xfrm>
            <a:off x="782411" y="2585784"/>
            <a:ext cx="419100" cy="304800"/>
          </a:xfrm>
          <a:prstGeom prst="roundRect">
            <a:avLst>
              <a:gd name="adj" fmla="val 18750"/>
            </a:avLst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A3674FC-8FE6-C26C-7552-784E9951A2BF}"/>
              </a:ext>
            </a:extLst>
          </p:cNvPr>
          <p:cNvSpPr>
            <a:spLocks noGrp="1"/>
          </p:cNvSpPr>
          <p:nvPr/>
        </p:nvSpPr>
        <p:spPr>
          <a:xfrm>
            <a:off x="790575" y="3270081"/>
            <a:ext cx="419100" cy="304800"/>
          </a:xfrm>
          <a:prstGeom prst="roundRect">
            <a:avLst>
              <a:gd name="adj" fmla="val 18750"/>
            </a:avLst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A84EC4A-B8C5-943B-DB32-AEF21F3D1275}"/>
              </a:ext>
            </a:extLst>
          </p:cNvPr>
          <p:cNvSpPr>
            <a:spLocks noGrp="1"/>
          </p:cNvSpPr>
          <p:nvPr/>
        </p:nvSpPr>
        <p:spPr>
          <a:xfrm>
            <a:off x="790575" y="3984225"/>
            <a:ext cx="419100" cy="304800"/>
          </a:xfrm>
          <a:prstGeom prst="roundRect">
            <a:avLst>
              <a:gd name="adj" fmla="val 18750"/>
            </a:avLst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53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58326-F471-1D99-0092-79CD85333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EF541-0A82-F0B1-CC94-4BDDA709DC3F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2B85F1-7667-67AE-3748-73CF132C75B9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55A7E-10A6-904F-53D4-2ED16DB31CD4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798FA-0667-D705-17EC-6FA3196BD663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EVERYDAY AUTOMATION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ED1791-FB4C-F4F7-E720-FE49261E997D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02A43"/>
                </a:solidFill>
              </a:defRPr>
            </a:pPr>
            <a:r>
              <a:rPr lang="en-US" sz="2325" b="1" dirty="0">
                <a:solidFill>
                  <a:srgbClr val="102A43"/>
                </a:solidFill>
              </a:rPr>
              <a:t>Data-analysis</a:t>
            </a:r>
            <a:endParaRPr sz="2325" b="1" dirty="0">
              <a:solidFill>
                <a:srgbClr val="102A43"/>
              </a:solidFill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FAF1154-0CFB-3754-CE10-2B45095B1C16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572750" cy="0"/>
          </a:xfrm>
          <a:prstGeom prst="line">
            <a:avLst/>
          </a:prstGeom>
          <a:noFill/>
          <a:ln w="9525">
            <a:solidFill>
              <a:srgbClr val="D7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5A42F5-518F-D61C-A414-9C95CC0FA392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3F0925-1D91-F3C0-1786-AC3BBFD277F6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87BF3F4-BDB0-46A9-5D52-A84A73E16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02" y="1733973"/>
            <a:ext cx="3491023" cy="441875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0A38888-4D63-57B1-DF8E-AB04802E0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726" y="1581151"/>
            <a:ext cx="4914235" cy="452072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AB5BD10-0F5D-9976-8D3E-C6840DC028B1}"/>
              </a:ext>
            </a:extLst>
          </p:cNvPr>
          <p:cNvSpPr txBox="1"/>
          <p:nvPr/>
        </p:nvSpPr>
        <p:spPr>
          <a:xfrm>
            <a:off x="2741428" y="6263759"/>
            <a:ext cx="670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/dazelu20-del/titanic-data-analysis-</a:t>
            </a:r>
            <a:r>
              <a:rPr lang="en-US" dirty="0" err="1"/>
              <a:t>dafne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4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46BD491-1D4D-468E-93AF-113FCFC10B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49B36-A9E8-4B13-B3DA-4D17A2A820BC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A17088-B6CF-4EBF-AA2D-EE9B57B2E4F4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8D8E65-3CD7-4A42-A61B-13086C01B06E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B251C6-2B32-4A92-AEF8-3E5C2F830133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DESKTOP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1F1F35-10AB-49A5-909F-61BC6FD3D255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02A43"/>
                </a:solidFill>
              </a:defRPr>
            </a:pPr>
            <a:r>
              <a:rPr sz="2325" b="1" dirty="0" err="1">
                <a:solidFill>
                  <a:srgbClr val="102A43"/>
                </a:solidFill>
              </a:rPr>
              <a:t>PageMark</a:t>
            </a:r>
            <a:endParaRPr sz="2325" b="1" dirty="0">
              <a:solidFill>
                <a:srgbClr val="102A43"/>
              </a:solidFill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9CC9502-8B63-4941-9464-36D23C20DAA8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572750" cy="0"/>
          </a:xfrm>
          <a:prstGeom prst="line">
            <a:avLst/>
          </a:prstGeom>
          <a:noFill/>
          <a:ln w="9525">
            <a:solidFill>
              <a:srgbClr val="D7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13DFB2-F95B-43B6-A1F4-2306C5D6CA3B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44AECE-5D76-4ACE-A50A-33568A5432B4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840CFA-E30E-B99B-23D2-C6E9A134C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260" y="1552281"/>
            <a:ext cx="5870280" cy="48961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4769A15-46AB-9082-5EA6-33D52284CDEC}"/>
              </a:ext>
            </a:extLst>
          </p:cNvPr>
          <p:cNvSpPr txBox="1"/>
          <p:nvPr/>
        </p:nvSpPr>
        <p:spPr>
          <a:xfrm>
            <a:off x="8091377" y="3168502"/>
            <a:ext cx="3681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/dazelu20-del/Liu-PDF-Editor</a:t>
            </a:r>
          </a:p>
        </p:txBody>
      </p:sp>
    </p:spTree>
    <p:extLst>
      <p:ext uri="{BB962C8B-B14F-4D97-AF65-F5344CB8AC3E}">
        <p14:creationId xmlns:p14="http://schemas.microsoft.com/office/powerpoint/2010/main" val="95826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920CC68-2265-4D4F-B13C-C4A9379187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780BE3-0CEE-4BEA-9892-7CC6E6413347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DC37F-0853-4840-875B-B14D6863D1A9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F98BD-0E47-4892-AB2E-8BCA53A9C6E8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533C2-7AF1-42B8-906C-67CD7E98678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GAME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8192E-EB4D-4FBF-AB17-22643C0587F9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02A43"/>
                </a:solidFill>
              </a:defRPr>
            </a:pPr>
            <a:r>
              <a:rPr sz="2325" b="1" dirty="0">
                <a:solidFill>
                  <a:srgbClr val="102A43"/>
                </a:solidFill>
              </a:rPr>
              <a:t>Last Circle </a:t>
            </a:r>
            <a:r>
              <a:rPr lang="en-US" sz="2325" b="1" dirty="0">
                <a:solidFill>
                  <a:srgbClr val="102A43"/>
                </a:solidFill>
              </a:rPr>
              <a:t>3d game</a:t>
            </a:r>
            <a:endParaRPr sz="2325" b="1" dirty="0">
              <a:solidFill>
                <a:srgbClr val="102A43"/>
              </a:solidFill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A19E85E-DBF9-42E2-A525-2950F2AE2C10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572750" cy="0"/>
          </a:xfrm>
          <a:prstGeom prst="line">
            <a:avLst/>
          </a:prstGeom>
          <a:noFill/>
          <a:ln w="9525">
            <a:solidFill>
              <a:srgbClr val="D7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C14AD-73C8-4748-A724-89A392281C31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CBADD-E473-42DD-A049-6745BAB0F13C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6E565E-55DD-433D-9F64-B188131DC2C0}"/>
              </a:ext>
            </a:extLst>
          </p:cNvPr>
          <p:cNvSpPr>
            <a:spLocks noGrp="1"/>
          </p:cNvSpPr>
          <p:nvPr/>
        </p:nvSpPr>
        <p:spPr>
          <a:xfrm>
            <a:off x="6115050" y="5257800"/>
            <a:ext cx="66675" cy="66675"/>
          </a:xfrm>
          <a:prstGeom prst="ellipse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B01924-1AA1-91F5-D727-B5AEFE688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246" y="1581151"/>
            <a:ext cx="6984040" cy="41340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49E73C-514A-79CA-CDFB-13CE48B9676E}"/>
              </a:ext>
            </a:extLst>
          </p:cNvPr>
          <p:cNvSpPr txBox="1"/>
          <p:nvPr/>
        </p:nvSpPr>
        <p:spPr>
          <a:xfrm>
            <a:off x="2348244" y="5873234"/>
            <a:ext cx="674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/dazelu23-droid/fps-game--Aariz</a:t>
            </a:r>
          </a:p>
        </p:txBody>
      </p:sp>
    </p:spTree>
    <p:extLst>
      <p:ext uri="{BB962C8B-B14F-4D97-AF65-F5344CB8AC3E}">
        <p14:creationId xmlns:p14="http://schemas.microsoft.com/office/powerpoint/2010/main" val="174834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920CC68-2265-4D4F-B13C-C4A9379187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780BE3-0CEE-4BEA-9892-7CC6E6413347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DC37F-0853-4840-875B-B14D6863D1A9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F98BD-0E47-4892-AB2E-8BCA53A9C6E8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533C2-7AF1-42B8-906C-67CD7E98678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GAME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8192E-EB4D-4FBF-AB17-22643C0587F9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02A43"/>
                </a:solidFill>
              </a:defRPr>
            </a:pPr>
            <a:r>
              <a:rPr lang="en-US" sz="2325" b="1" dirty="0">
                <a:solidFill>
                  <a:srgbClr val="102A43"/>
                </a:solidFill>
              </a:rPr>
              <a:t>Final projects</a:t>
            </a:r>
            <a:endParaRPr sz="2325" b="1" dirty="0">
              <a:solidFill>
                <a:srgbClr val="102A43"/>
              </a:solidFill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A19E85E-DBF9-42E2-A525-2950F2AE2C10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572750" cy="0"/>
          </a:xfrm>
          <a:prstGeom prst="line">
            <a:avLst/>
          </a:prstGeom>
          <a:noFill/>
          <a:ln w="9525">
            <a:solidFill>
              <a:srgbClr val="D7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C14AD-73C8-4748-A724-89A392281C31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CBADD-E473-42DD-A049-6745BAB0F13C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6E565E-55DD-433D-9F64-B188131DC2C0}"/>
              </a:ext>
            </a:extLst>
          </p:cNvPr>
          <p:cNvSpPr>
            <a:spLocks noGrp="1"/>
          </p:cNvSpPr>
          <p:nvPr/>
        </p:nvSpPr>
        <p:spPr>
          <a:xfrm>
            <a:off x="6115050" y="5257800"/>
            <a:ext cx="66675" cy="66675"/>
          </a:xfrm>
          <a:prstGeom prst="ellipse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1565F-D4CD-BBF2-D2F6-4CE5513AB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05" y="2468649"/>
            <a:ext cx="4736432" cy="27891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8C796C-831D-51B9-7C1F-9D29F8D8F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928" y="2402849"/>
            <a:ext cx="4834793" cy="300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3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920CC68-2265-4D4F-B13C-C4A9379187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780BE3-0CEE-4BEA-9892-7CC6E6413347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DC37F-0853-4840-875B-B14D6863D1A9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F98BD-0E47-4892-AB2E-8BCA53A9C6E8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533C2-7AF1-42B8-906C-67CD7E98678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GAME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8192E-EB4D-4FBF-AB17-22643C0587F9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02A43"/>
                </a:solidFill>
              </a:defRPr>
            </a:pPr>
            <a:r>
              <a:rPr lang="en-US" sz="2325" b="1" dirty="0">
                <a:solidFill>
                  <a:srgbClr val="102A43"/>
                </a:solidFill>
              </a:rPr>
              <a:t>Final projects</a:t>
            </a:r>
            <a:endParaRPr sz="2325" b="1" dirty="0">
              <a:solidFill>
                <a:srgbClr val="102A43"/>
              </a:solidFill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A19E85E-DBF9-42E2-A525-2950F2AE2C10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572750" cy="0"/>
          </a:xfrm>
          <a:prstGeom prst="line">
            <a:avLst/>
          </a:prstGeom>
          <a:noFill/>
          <a:ln w="9525">
            <a:solidFill>
              <a:srgbClr val="D7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C14AD-73C8-4748-A724-89A392281C31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CBADD-E473-42DD-A049-6745BAB0F13C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6E565E-55DD-433D-9F64-B188131DC2C0}"/>
              </a:ext>
            </a:extLst>
          </p:cNvPr>
          <p:cNvSpPr>
            <a:spLocks noGrp="1"/>
          </p:cNvSpPr>
          <p:nvPr/>
        </p:nvSpPr>
        <p:spPr>
          <a:xfrm>
            <a:off x="6115050" y="5257800"/>
            <a:ext cx="66675" cy="66675"/>
          </a:xfrm>
          <a:prstGeom prst="ellipse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9FE199-7D79-F9A6-6D84-CA74F2294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87581"/>
            <a:ext cx="5085347" cy="28659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24F578-DEA8-3D55-9652-990562642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87581"/>
            <a:ext cx="51689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4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920CC68-2265-4D4F-B13C-C4A9379187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780BE3-0CEE-4BEA-9892-7CC6E6413347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DC37F-0853-4840-875B-B14D6863D1A9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F98BD-0E47-4892-AB2E-8BCA53A9C6E8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533C2-7AF1-42B8-906C-67CD7E98678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GAME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8192E-EB4D-4FBF-AB17-22643C0587F9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02A43"/>
                </a:solidFill>
              </a:defRPr>
            </a:pPr>
            <a:r>
              <a:rPr lang="en-US" sz="2325" b="1" dirty="0">
                <a:solidFill>
                  <a:srgbClr val="102A43"/>
                </a:solidFill>
              </a:rPr>
              <a:t>Final projects</a:t>
            </a:r>
            <a:endParaRPr sz="2325" b="1" dirty="0">
              <a:solidFill>
                <a:srgbClr val="102A43"/>
              </a:solidFill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A19E85E-DBF9-42E2-A525-2950F2AE2C10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572750" cy="0"/>
          </a:xfrm>
          <a:prstGeom prst="line">
            <a:avLst/>
          </a:prstGeom>
          <a:noFill/>
          <a:ln w="9525">
            <a:solidFill>
              <a:srgbClr val="D7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C14AD-73C8-4748-A724-89A392281C31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CBADD-E473-42DD-A049-6745BAB0F13C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6E565E-55DD-433D-9F64-B188131DC2C0}"/>
              </a:ext>
            </a:extLst>
          </p:cNvPr>
          <p:cNvSpPr>
            <a:spLocks noGrp="1"/>
          </p:cNvSpPr>
          <p:nvPr/>
        </p:nvSpPr>
        <p:spPr>
          <a:xfrm>
            <a:off x="6115050" y="5257800"/>
            <a:ext cx="66675" cy="66675"/>
          </a:xfrm>
          <a:prstGeom prst="ellipse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24BFC9-0992-D3C2-E8D5-B5F161D46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" y="2569387"/>
            <a:ext cx="5168900" cy="2893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036450-C5D2-588E-08F2-A63216742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250" y="2569387"/>
            <a:ext cx="5168900" cy="284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2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920CC68-2265-4D4F-B13C-C4A9379187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780BE3-0CEE-4BEA-9892-7CC6E6413347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DC37F-0853-4840-875B-B14D6863D1A9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F98BD-0E47-4892-AB2E-8BCA53A9C6E8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533C2-7AF1-42B8-906C-67CD7E98678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GAME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8192E-EB4D-4FBF-AB17-22643C0587F9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02A43"/>
                </a:solidFill>
              </a:defRPr>
            </a:pPr>
            <a:r>
              <a:rPr lang="en-US" sz="2325" b="1" dirty="0">
                <a:solidFill>
                  <a:srgbClr val="102A43"/>
                </a:solidFill>
              </a:rPr>
              <a:t>Final projects</a:t>
            </a:r>
            <a:endParaRPr sz="2325" b="1" dirty="0">
              <a:solidFill>
                <a:srgbClr val="102A43"/>
              </a:solidFill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A19E85E-DBF9-42E2-A525-2950F2AE2C10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572750" cy="0"/>
          </a:xfrm>
          <a:prstGeom prst="line">
            <a:avLst/>
          </a:prstGeom>
          <a:noFill/>
          <a:ln w="9525">
            <a:solidFill>
              <a:srgbClr val="D7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C14AD-73C8-4748-A724-89A392281C31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CBADD-E473-42DD-A049-6745BAB0F13C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6E565E-55DD-433D-9F64-B188131DC2C0}"/>
              </a:ext>
            </a:extLst>
          </p:cNvPr>
          <p:cNvSpPr>
            <a:spLocks noGrp="1"/>
          </p:cNvSpPr>
          <p:nvPr/>
        </p:nvSpPr>
        <p:spPr>
          <a:xfrm>
            <a:off x="6115050" y="5257800"/>
            <a:ext cx="66675" cy="66675"/>
          </a:xfrm>
          <a:prstGeom prst="ellipse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D27035-B2BC-0EEB-FE24-D0FF151C1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25200"/>
            <a:ext cx="4635500" cy="2732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160BA5-5CE3-E6BC-E720-A4CE09E43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740" y="2480750"/>
            <a:ext cx="5544410" cy="27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32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920CC68-2265-4D4F-B13C-C4A9379187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780BE3-0CEE-4BEA-9892-7CC6E6413347}"/>
              </a:ext>
            </a:extLst>
          </p:cNvPr>
          <p:cNvSpPr>
            <a:spLocks noGrp="1"/>
          </p:cNvSpPr>
          <p:nvPr/>
        </p:nvSpPr>
        <p:spPr>
          <a:xfrm>
            <a:off x="9906000" y="781050"/>
            <a:ext cx="1466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D8E8F2"/>
                </a:solidFill>
              </a:defRPr>
            </a:pPr>
            <a:r>
              <a:rPr sz="3900" b="1">
                <a:solidFill>
                  <a:srgbClr val="D8E8F2"/>
                </a:solidFill>
              </a:rPr>
              <a:t>&lt;/&gt;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DC37F-0853-4840-875B-B14D6863D1A9}"/>
              </a:ext>
            </a:extLst>
          </p:cNvPr>
          <p:cNvSpPr>
            <a:spLocks noGrp="1"/>
          </p:cNvSpPr>
          <p:nvPr/>
        </p:nvSpPr>
        <p:spPr>
          <a:xfrm>
            <a:off x="11468100" y="381000"/>
            <a:ext cx="123825" cy="123825"/>
          </a:xfrm>
          <a:prstGeom prst="rect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F98BD-0E47-4892-AB2E-8BCA53A9C6E8}"/>
              </a:ext>
            </a:extLst>
          </p:cNvPr>
          <p:cNvSpPr>
            <a:spLocks noGrp="1"/>
          </p:cNvSpPr>
          <p:nvPr/>
        </p:nvSpPr>
        <p:spPr>
          <a:xfrm>
            <a:off x="11649075" y="381000"/>
            <a:ext cx="123825" cy="123825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533C2-7AF1-42B8-906C-67CD7E98678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6A7E0"/>
                </a:solidFill>
              </a:defRPr>
            </a:pPr>
            <a:r>
              <a:rPr sz="825" b="1">
                <a:solidFill>
                  <a:srgbClr val="16A7E0"/>
                </a:solidFill>
              </a:rPr>
              <a:t>GAME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8192E-EB4D-4FBF-AB17-22643C0587F9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02A43"/>
                </a:solidFill>
              </a:defRPr>
            </a:pPr>
            <a:r>
              <a:rPr lang="en-US" sz="2325" b="1" dirty="0">
                <a:solidFill>
                  <a:srgbClr val="102A43"/>
                </a:solidFill>
              </a:rPr>
              <a:t>Final projects</a:t>
            </a:r>
            <a:endParaRPr sz="2325" b="1" dirty="0">
              <a:solidFill>
                <a:srgbClr val="102A43"/>
              </a:solidFill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A19E85E-DBF9-42E2-A525-2950F2AE2C10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572750" cy="0"/>
          </a:xfrm>
          <a:prstGeom prst="line">
            <a:avLst/>
          </a:prstGeom>
          <a:noFill/>
          <a:ln w="9525">
            <a:solidFill>
              <a:srgbClr val="D7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C14AD-73C8-4748-A724-89A392281C31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FB0BE"/>
                </a:solidFill>
              </a:defRPr>
            </a:pPr>
            <a:r>
              <a:rPr sz="675">
                <a:solidFill>
                  <a:srgbClr val="9FB0BE"/>
                </a:solidFill>
              </a:rPr>
              <a:t>Vibe Coding  ·  Course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CBADD-E473-42DD-A049-6745BAB0F13C}"/>
              </a:ext>
            </a:extLst>
          </p:cNvPr>
          <p:cNvSpPr>
            <a:spLocks noGrp="1"/>
          </p:cNvSpPr>
          <p:nvPr/>
        </p:nvSpPr>
        <p:spPr>
          <a:xfrm>
            <a:off x="11315700" y="6305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8AA0B2"/>
                </a:solidFill>
              </a:defRPr>
            </a:pPr>
            <a:r>
              <a:rPr sz="750">
                <a:solidFill>
                  <a:srgbClr val="8AA0B2"/>
                </a:solidFill>
              </a:rPr>
              <a:t>09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6E565E-55DD-433D-9F64-B188131DC2C0}"/>
              </a:ext>
            </a:extLst>
          </p:cNvPr>
          <p:cNvSpPr>
            <a:spLocks noGrp="1"/>
          </p:cNvSpPr>
          <p:nvPr/>
        </p:nvSpPr>
        <p:spPr>
          <a:xfrm>
            <a:off x="6115050" y="5257800"/>
            <a:ext cx="66675" cy="66675"/>
          </a:xfrm>
          <a:prstGeom prst="ellipse">
            <a:avLst/>
          </a:prstGeom>
          <a:solidFill>
            <a:srgbClr val="16A7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EB3F31-7F6D-03DF-731D-AD1F9D9E0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744" y="2396104"/>
            <a:ext cx="4505157" cy="265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704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255</Words>
  <Application>Microsoft Macintosh PowerPoint</Application>
  <DocSecurity>0</DocSecurity>
  <PresentationFormat>Widescreen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大泽 陆</cp:lastModifiedBy>
  <cp:revision>12</cp:revision>
  <dcterms:created xsi:type="dcterms:W3CDTF">2026-07-02T02:41:08Z</dcterms:created>
  <dcterms:modified xsi:type="dcterms:W3CDTF">2026-07-02T20:28:09Z</dcterms:modified>
</cp:coreProperties>
</file>